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302e27a1-abda-13a5-cf1c-2c14b65ca2bf}">
          <p14:sldIdLst>
            <p14:sldId id="256"/>
            <p14:sldId id="257"/>
            <p14:sldId id="258"/>
            <p14:sldId id="259"/>
          </p14:sldIdLst>
        </p14:section>
        <p14:section name="Audit" id="{f35856c6-1889-a782-46f1-444af3909847}">
          <p14:sldIdLst>
            <p14:sldId id="260"/>
          </p14:sldIdLst>
        </p14:section>
        <p14:section name="Findings" id="{1d7b6e2d-b72b-4ae0-f756-ee33ff9c2e0a}">
          <p14:sldIdLst>
            <p14:sldId id="261"/>
            <p14:sldId id="262"/>
            <p14:sldId id="263"/>
            <p14:sldId id="264"/>
            <p14:sldId id="265"/>
            <p14:sldId id="266"/>
          </p14:sldIdLst>
        </p14:section>
        <p14:section name="Wrap-up" id="{fc5d1329-5d65-4818-8b9c-d7ac53346046}">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7486"/>
                </a:solidFill>
                <a:latin typeface="+mn-lt"/>
              </a:defRPr>
            </a:pPr>
            <a:r>
              <a:rPr sz="1300" b="0" i="0" u="none" strike="noStrike">
                <a:solidFill>
                  <a:srgbClr val="6B7486"/>
                </a:solidFill>
                <a:latin typeface="+mn-lt"/>
              </a:rPr>
              <a:t>ECC op cost, in SHA-1 hashes</a:t>
            </a:r>
          </a:p>
        </c:rich>
      </c:tx>
      <c:layout/>
      <c:overlay val="0"/>
    </c:title>
    <c:autoTitleDeleted val="0"/>
    <c:plotArea>
      <c:layout/>
      <c:barChart>
        <c:barDir val="col"/>
        <c:grouping val="clustered"/>
        <c:varyColors val="0"/>
        <c:ser>
          <c:idx val="0"/>
          <c:order val="0"/>
          <c:tx>
            <c:strRef>
              <c:f>Sheet1!$B$1</c:f>
              <c:strCache>
                <c:ptCount val="1"/>
                <c:pt idx="0">
                  <c:v>ECC cost in hash units</c:v>
                </c:pt>
              </c:strCache>
            </c:strRef>
          </c:tx>
          <c:spPr>
            <a:solidFill>
              <a:srgbClr val="6B7486"/>
            </a:solidFill>
            <a:effectLst/>
          </c:spPr>
          <c:invertIfNegative val="0"/>
          <c:dLbls>
            <c:numFmt formatCode="#,##0" sourceLinked="0"/>
            <c:txPr>
              <a:bodyPr/>
              <a:lstStyle/>
              <a:p>
                <a:pPr>
                  <a:defRPr b="0" i="0" strike="noStrike" sz="14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6B7486"/>
              </a:solidFill>
              <a:effectLst/>
            </c:spPr>
          </c:dPt>
          <c:dPt>
            <c:idx val="1"/>
            <c:invertIfNegative val="0"/>
            <c:bubble3D val="0"/>
            <c:spPr>
              <a:solidFill>
                <a:srgbClr val="C0452F"/>
              </a:solidFill>
              <a:effectLst/>
            </c:spPr>
          </c:dPt>
          <c:cat>
            <c:multiLvlStrRef>
              <c:f>Sheet1!$A$2:$A$3</c:f>
              <c:multiLvlStrCache>
                <c:ptCount val="2"/>
                <c:lvl>
                  <c:pt idx="0">
                    <c:v>Paper's assumption</c:v>
                  </c:pt>
                  <c:pt idx="1">
                    <c:v>Measured on ESP8266</c:v>
                  </c:pt>
                </c:lvl>
              </c:multiLvlStrCache>
            </c:multiLvlStrRef>
          </c:cat>
          <c:val>
            <c:numRef>
              <c:f>Sheet1!$B$2:$B$3</c:f>
              <c:numCache>
                <c:formatCode>General</c:formatCode>
                <c:ptCount val="2"/>
                <c:pt idx="0">
                  <c:v>53</c:v>
                </c:pt>
                <c:pt idx="1">
                  <c:v>7604</c:v>
                </c:pt>
              </c:numCache>
            </c:numRef>
          </c:val>
        </c:ser>
        <c:dLbls>
          <c:numFmt formatCode="#,##0" sourceLinked="0"/>
          <c:txPr>
            <a:bodyPr/>
            <a:lstStyle/>
            <a:p>
              <a:pPr>
                <a:defRPr b="0" i="0" strike="noStrike" sz="14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486"/>
                </a:solidFill>
                <a:latin typeface="+mn-lt"/>
              </a:defRPr>
            </a:pPr>
            <a:endParaRPr lang="en-US"/>
          </a:p>
        </c:txPr>
        <c:crossAx val="2094734552"/>
        <c:crosses val="autoZero"/>
        <c:auto val="1"/>
        <c:lblAlgn val="ctr"/>
        <c:noMultiLvlLbl val="1"/>
      </c:catAx>
      <c:valAx>
        <c:axId val="2094734552"/>
        <c:scaling>
          <c:orientation val="minMax"/>
          <c:max val="9000"/>
        </c:scaling>
        <c:delete val="0"/>
        <c:axPos val="l"/>
        <c:majorGridlines>
          <c:spPr>
            <a:ln w="9525" cap="flat">
              <a:solidFill>
                <a:srgbClr val="E1E5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486"/>
                </a:solidFill>
                <a:latin typeface="+mn-lt"/>
              </a:defRPr>
            </a:pPr>
            <a:endParaRPr lang="en-US"/>
          </a:p>
        </c:txPr>
        <c:crossAx val="2094734554"/>
        <c:crosses val="autoZero"/>
        <c:crossBetween val="between"/>
        <c:majorUnit val="3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7486"/>
                </a:solidFill>
                <a:latin typeface="+mn-lt"/>
              </a:defRPr>
            </a:pPr>
            <a:r>
              <a:rPr sz="1300" b="0" i="0" u="none" strike="noStrike">
                <a:solidFill>
                  <a:srgbClr val="6B7486"/>
                </a:solidFill>
                <a:latin typeface="+mn-lt"/>
              </a:rPr>
              <a:t>Server lookup per request (ms)</a:t>
            </a:r>
          </a:p>
        </c:rich>
      </c:tx>
      <c:layout/>
      <c:overlay val="0"/>
    </c:title>
    <c:autoTitleDeleted val="0"/>
    <c:plotArea>
      <c:layout/>
      <c:barChart>
        <c:barDir val="col"/>
        <c:grouping val="clustered"/>
        <c:varyColors val="0"/>
        <c:ser>
          <c:idx val="0"/>
          <c:order val="0"/>
          <c:tx>
            <c:strRef>
              <c:f>Sheet1!$B$1</c:f>
              <c:strCache>
                <c:ptCount val="1"/>
                <c:pt idx="0">
                  <c:v>Lookup time (ms)</c:v>
                </c:pt>
              </c:strCache>
            </c:strRef>
          </c:tx>
          <c:spPr>
            <a:solidFill>
              <a:srgbClr val="5B7DB1"/>
            </a:solidFill>
            <a:effectLst/>
          </c:spPr>
          <c:invertIfNegative val="0"/>
          <c:dLbls>
            <c:numFmt formatCode="0.0" sourceLinked="0"/>
            <c:txPr>
              <a:bodyPr/>
              <a:lstStyle/>
              <a:p>
                <a:pPr>
                  <a:defRPr b="0" i="0" strike="noStrike" sz="14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5B7DB1"/>
              </a:solidFill>
              <a:effectLst/>
            </c:spPr>
          </c:dPt>
          <c:dPt>
            <c:idx val="1"/>
            <c:invertIfNegative val="0"/>
            <c:bubble3D val="0"/>
            <c:spPr>
              <a:solidFill>
                <a:srgbClr val="C0452F"/>
              </a:solidFill>
              <a:effectLst/>
            </c:spPr>
          </c:dPt>
          <c:cat>
            <c:multiLvlStrRef>
              <c:f>Sheet1!$A$2:$A$3</c:f>
              <c:multiLvlStrCache>
                <c:ptCount val="2"/>
                <c:lvl>
                  <c:pt idx="0">
                    <c:v>1,000 devices</c:v>
                  </c:pt>
                  <c:pt idx="1">
                    <c:v>5,000 devices</c:v>
                  </c:pt>
                </c:lvl>
              </c:multiLvlStrCache>
            </c:multiLvlStrRef>
          </c:cat>
          <c:val>
            <c:numRef>
              <c:f>Sheet1!$B$2:$B$3</c:f>
              <c:numCache>
                <c:formatCode>General</c:formatCode>
                <c:ptCount val="2"/>
                <c:pt idx="0">
                  <c:v>4.8</c:v>
                </c:pt>
                <c:pt idx="1">
                  <c:v>23.9</c:v>
                </c:pt>
              </c:numCache>
            </c:numRef>
          </c:val>
        </c:ser>
        <c:dLbls>
          <c:numFmt formatCode="0.0" sourceLinked="0"/>
          <c:txPr>
            <a:bodyPr/>
            <a:lstStyle/>
            <a:p>
              <a:pPr>
                <a:defRPr b="0" i="0" strike="noStrike" sz="1400" u="none">
                  <a:solidFill>
                    <a:srgbClr val="1B1F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486"/>
                </a:solidFill>
                <a:latin typeface="+mn-lt"/>
              </a:defRPr>
            </a:pPr>
            <a:endParaRPr lang="en-US"/>
          </a:p>
        </c:txPr>
        <c:crossAx val="2094734552"/>
        <c:crosses val="autoZero"/>
        <c:auto val="1"/>
        <c:lblAlgn val="ctr"/>
        <c:noMultiLvlLbl val="1"/>
      </c:catAx>
      <c:valAx>
        <c:axId val="2094734552"/>
        <c:scaling>
          <c:orientation val="minMax"/>
          <c:max val="30"/>
        </c:scaling>
        <c:delete val="0"/>
        <c:axPos val="l"/>
        <c:majorGridlines>
          <c:spPr>
            <a:ln w="9525" cap="flat">
              <a:solidFill>
                <a:srgbClr val="E1E5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486"/>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audited a 2026 IEEE TCE paper on lightweight IoT authentication: we implemented its protocol, ran it on a real microcontroller, and re-checked its cost claims with measured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paper says its protocol is about 17% cheaper in communication, 21% in processing and 12% in storage than earlier schemes. Our question: do those numbers hold on real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Section III protocol. The device sends a one-time pseudonym with an encrypted nonce; the server answers with its nonce and a proof; both derive the session key. The elliptic-curve part is only used during offline registration, hence 'hybrid'.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counts operations and multiplies by assumed per-operation times, plus an OMNeT++ simulation that nobody can re-run. That is why there is no 'dataset': a protocol-cost paper's reproducible inputs are the specification, the constants and the operation counts, and we used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 Section III of the base paper (the nonce-based protocol), not the replayable Section II variant. Same C source on every platform so the comparison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say the authors' simulation is wrong. We say the headline percentages cannot be derived from what was published, and the paper's table contradicts its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ESP8266 a P-256 scalar multiplication takes 276 ms, 16 times the paper's constant, while hashing and AES-GCM are 5 to 12 times cheaper than assumed. The ratio of ECC to hash is 7,604 against an assumed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ranking flips back only if the symmetric step is read as unauthenticated AES, which would drop the MAC the protocol requires. We report four readings of the cost and say which one we think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attack script, not a formal proof. It shows the design property: compromise of the long-term secret exposes all past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with a 13-epoch window. This is a scaling cost the paper's operation-count table cannot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ESP8266 at 80 MHz. We are fair to the protocol: it is cheap online. Our critique is about the evidence behind the headline percentages.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limits: single MCU, single library, competitors not re-implemented, no formal analysis, authors not contacted.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the numbers do not hold as published; the protocol is still cheap, but not in the way, or by the margin, the paper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1000" dirty="0">
                <a:solidFill>
                  <a:schemeClr val="accent4"/>
                </a:solidFill>
              </a:rPr>
              <a:t>Reproducibility audit of a hybrid ECC authentication protocol for IoT</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7863840" cy="15544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640080" y="2788920"/>
            <a:ext cx="731520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914400"/>
            <a:ext cx="7863840"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640080" y="1920240"/>
            <a:ext cx="7498080" cy="18288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7863840" cy="1554480"/>
          </a:xfrm>
          <a:prstGeom prst="rect">
            <a:avLst/>
          </a:prstGeom>
          <a:noFill/>
          <a:ln/>
        </p:spPr>
        <p:txBody>
          <a:bodyPr wrap="square" lIns="0" tIns="0" rIns="0" bIns="0" rtlCol="0" anchor="t"/>
          <a:lstStyle/>
          <a:p>
            <a:pPr algn="l" indent="0" marL="0">
              <a:buNone/>
            </a:pPr>
            <a:r>
              <a:rPr lang="en-US" sz="3800" b="1" dirty="0">
                <a:solidFill>
                  <a:schemeClr val="bg1"/>
                </a:solidFill>
              </a:rPr>
              <a:t>Do the Numbers Hold on Real Hardware?</a:t>
            </a:r>
            <a:endParaRPr lang="en-US" sz="3800" dirty="0"/>
          </a:p>
        </p:txBody>
      </p:sp>
      <p:sp>
        <p:nvSpPr>
          <p:cNvPr id="3" name="Text 0"/>
          <p:cNvSpPr/>
          <p:nvPr>
            <p:ph idx="101" type="body" hasCustomPrompt="1"/>
          </p:nvPr>
        </p:nvSpPr>
        <p:spPr>
          <a:xfrm>
            <a:off x="640080" y="2788920"/>
            <a:ext cx="7315200" cy="822960"/>
          </a:xfrm>
          <a:prstGeom prst="rect">
            <a:avLst/>
          </a:prstGeom>
          <a:noFill/>
          <a:ln/>
        </p:spPr>
        <p:txBody>
          <a:bodyPr wrap="square" lIns="0" tIns="0" rIns="0" bIns="0" rtlCol="0" anchor="t"/>
          <a:lstStyle/>
          <a:p>
            <a:pPr indent="0" marL="0">
              <a:buNone/>
            </a:pPr>
            <a:r>
              <a:rPr lang="en-US" sz="1800" dirty="0">
                <a:solidFill>
                  <a:schemeClr val="bg2"/>
                </a:solidFill>
              </a:rPr>
              <a:t>A reproducibility and measurement audit of a low-cost hybrid ECC authentication protocol for IoT</a:t>
            </a:r>
            <a:endParaRPr lang="en-US" sz="1800" dirty="0"/>
          </a:p>
        </p:txBody>
      </p:sp>
      <p:sp>
        <p:nvSpPr>
          <p:cNvPr id="4" name="Authors"/>
          <p:cNvSpPr txBox="1"/>
          <p:nvPr/>
        </p:nvSpPr>
        <p:spPr>
          <a:xfrm>
            <a:off x="640080" y="3977640"/>
            <a:ext cx="7863840" cy="640080"/>
          </a:xfrm>
          <a:prstGeom prst="rect">
            <a:avLst/>
          </a:prstGeom>
          <a:noFill/>
          <a:ln/>
        </p:spPr>
        <p:txBody>
          <a:bodyPr wrap="square" lIns="0" tIns="0" rIns="0" bIns="0" rtlCol="0" anchor="t"/>
          <a:lstStyle/>
          <a:p>
            <a:pPr indent="0" marL="0">
              <a:buNone/>
            </a:pPr>
            <a:r>
              <a:rPr lang="en-US" sz="1400" b="1" dirty="0">
                <a:solidFill>
                  <a:schemeClr val="bg2"/>
                </a:solidFill>
              </a:rPr>
              <a:t>Jay Kerkar · Chaitanya Kelkar · Chirag Poornamath · Yash Kolekar</a:t>
            </a:r>
            <a:endParaRPr lang="en-US" sz="1400" dirty="0"/>
          </a:p>
          <a:p>
            <a:pPr indent="0" marL="0">
              <a:buNone/>
            </a:pPr>
            <a:r>
              <a:rPr lang="en-US" sz="1400" dirty="0">
                <a:solidFill>
                  <a:schemeClr val="bg2"/>
                </a:solidFill>
              </a:rPr>
              <a:t>Project guide: Dr. Shanta Sondur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000" b="1" dirty="0">
                <a:solidFill>
                  <a:schemeClr val="tx2"/>
                </a:solidFill>
              </a:rPr>
              <a:t>Tiny devices need cheap authentication</a:t>
            </a:r>
            <a:endParaRPr lang="en-US" sz="3000" dirty="0"/>
          </a:p>
        </p:txBody>
      </p:sp>
      <p:sp>
        <p:nvSpPr>
          <p:cNvPr id="3" name="Icon The device is weak circle"/>
          <p:cNvSpPr/>
          <p:nvPr/>
        </p:nvSpPr>
        <p:spPr>
          <a:xfrm>
            <a:off x="457200" y="1371600"/>
            <a:ext cx="640080" cy="640080"/>
          </a:xfrm>
          <a:prstGeom prst="ellipse">
            <a:avLst/>
          </a:prstGeom>
          <a:solidFill>
            <a:schemeClr val="tx2"/>
          </a:solidFill>
          <a:ln/>
        </p:spPr>
      </p:sp>
      <p:pic>
        <p:nvPicPr>
          <p:cNvPr id="4" name="Image 0" descr="Icon The device is weak">    </p:cNvPr>
          <p:cNvPicPr>
            <a:picLocks noChangeAspect="1"/>
          </p:cNvPicPr>
          <p:nvPr/>
        </p:nvPicPr>
        <p:blipFill>
          <a:blip r:embed="rId1"/>
          <a:stretch>
            <a:fillRect/>
          </a:stretch>
        </p:blipFill>
        <p:spPr>
          <a:xfrm>
            <a:off x="617220" y="1531620"/>
            <a:ext cx="320040" cy="320040"/>
          </a:xfrm>
          <a:prstGeom prst="rect">
            <a:avLst/>
          </a:prstGeom>
        </p:spPr>
      </p:pic>
      <p:sp>
        <p:nvSpPr>
          <p:cNvPr id="5" name="Row head 1"/>
          <p:cNvSpPr txBox="1"/>
          <p:nvPr/>
        </p:nvSpPr>
        <p:spPr>
          <a:xfrm>
            <a:off x="1325880" y="1371600"/>
            <a:ext cx="3931920" cy="320040"/>
          </a:xfrm>
          <a:prstGeom prst="rect">
            <a:avLst/>
          </a:prstGeom>
          <a:noFill/>
          <a:ln/>
        </p:spPr>
        <p:txBody>
          <a:bodyPr wrap="square" lIns="0" tIns="0" rIns="0" bIns="0" rtlCol="0" anchor="t"/>
          <a:lstStyle/>
          <a:p>
            <a:pPr indent="0" marL="0">
              <a:buNone/>
            </a:pPr>
            <a:r>
              <a:rPr lang="en-US" sz="1800" b="1" dirty="0">
                <a:solidFill>
                  <a:schemeClr val="tx2"/>
                </a:solidFill>
              </a:rPr>
              <a:t>The device is weak</a:t>
            </a:r>
            <a:endParaRPr lang="en-US" sz="1800" dirty="0"/>
          </a:p>
        </p:txBody>
      </p:sp>
      <p:sp>
        <p:nvSpPr>
          <p:cNvPr id="6" name="Row text 1"/>
          <p:cNvSpPr txBox="1"/>
          <p:nvPr/>
        </p:nvSpPr>
        <p:spPr>
          <a:xfrm>
            <a:off x="1325880" y="1719072"/>
            <a:ext cx="3931920" cy="594360"/>
          </a:xfrm>
          <a:prstGeom prst="rect">
            <a:avLst/>
          </a:prstGeom>
          <a:noFill/>
          <a:ln/>
        </p:spPr>
        <p:txBody>
          <a:bodyPr wrap="square" lIns="0" tIns="0" rIns="0" bIns="0" rtlCol="0" anchor="t"/>
          <a:lstStyle/>
          <a:p>
            <a:pPr indent="0" marL="0">
              <a:buNone/>
            </a:pPr>
            <a:r>
              <a:rPr lang="en-US" sz="1400" dirty="0">
                <a:solidFill>
                  <a:schemeClr val="tx1"/>
                </a:solidFill>
              </a:rPr>
              <a:t>Little memory and a slow processor, so heavy cryptography is costly.</a:t>
            </a:r>
            <a:endParaRPr lang="en-US" sz="1400" dirty="0"/>
          </a:p>
        </p:txBody>
      </p:sp>
      <p:sp>
        <p:nvSpPr>
          <p:cNvPr id="7" name="Icon It must prove who it is circle"/>
          <p:cNvSpPr/>
          <p:nvPr/>
        </p:nvSpPr>
        <p:spPr>
          <a:xfrm>
            <a:off x="457200" y="2423160"/>
            <a:ext cx="640080" cy="640080"/>
          </a:xfrm>
          <a:prstGeom prst="ellipse">
            <a:avLst/>
          </a:prstGeom>
          <a:solidFill>
            <a:schemeClr val="tx2"/>
          </a:solidFill>
          <a:ln/>
        </p:spPr>
      </p:sp>
      <p:pic>
        <p:nvPicPr>
          <p:cNvPr id="8" name="Image 1" descr="Icon It must prove who it is">    </p:cNvPr>
          <p:cNvPicPr>
            <a:picLocks noChangeAspect="1"/>
          </p:cNvPicPr>
          <p:nvPr/>
        </p:nvPicPr>
        <p:blipFill>
          <a:blip r:embed="rId2"/>
          <a:stretch>
            <a:fillRect/>
          </a:stretch>
        </p:blipFill>
        <p:spPr>
          <a:xfrm>
            <a:off x="617220" y="2583180"/>
            <a:ext cx="320040" cy="320040"/>
          </a:xfrm>
          <a:prstGeom prst="rect">
            <a:avLst/>
          </a:prstGeom>
        </p:spPr>
      </p:pic>
      <p:sp>
        <p:nvSpPr>
          <p:cNvPr id="9" name="Row head 2"/>
          <p:cNvSpPr txBox="1"/>
          <p:nvPr/>
        </p:nvSpPr>
        <p:spPr>
          <a:xfrm>
            <a:off x="1325880" y="2423160"/>
            <a:ext cx="3931920" cy="320040"/>
          </a:xfrm>
          <a:prstGeom prst="rect">
            <a:avLst/>
          </a:prstGeom>
          <a:noFill/>
          <a:ln/>
        </p:spPr>
        <p:txBody>
          <a:bodyPr wrap="square" lIns="0" tIns="0" rIns="0" bIns="0" rtlCol="0" anchor="t"/>
          <a:lstStyle/>
          <a:p>
            <a:pPr indent="0" marL="0">
              <a:buNone/>
            </a:pPr>
            <a:r>
              <a:rPr lang="en-US" sz="1800" b="1" dirty="0">
                <a:solidFill>
                  <a:schemeClr val="tx2"/>
                </a:solidFill>
              </a:rPr>
              <a:t>It must prove who it is</a:t>
            </a:r>
            <a:endParaRPr lang="en-US" sz="1800" dirty="0"/>
          </a:p>
        </p:txBody>
      </p:sp>
      <p:sp>
        <p:nvSpPr>
          <p:cNvPr id="10" name="Row text 2"/>
          <p:cNvSpPr txBox="1"/>
          <p:nvPr/>
        </p:nvSpPr>
        <p:spPr>
          <a:xfrm>
            <a:off x="1325880" y="2770632"/>
            <a:ext cx="3931920" cy="594360"/>
          </a:xfrm>
          <a:prstGeom prst="rect">
            <a:avLst/>
          </a:prstGeom>
          <a:noFill/>
          <a:ln/>
        </p:spPr>
        <p:txBody>
          <a:bodyPr wrap="square" lIns="0" tIns="0" rIns="0" bIns="0" rtlCol="0" anchor="t"/>
          <a:lstStyle/>
          <a:p>
            <a:pPr indent="0" marL="0">
              <a:buNone/>
            </a:pPr>
            <a:r>
              <a:rPr lang="en-US" sz="1400" dirty="0">
                <a:solidFill>
                  <a:schemeClr val="tx1"/>
                </a:solidFill>
              </a:rPr>
              <a:t>Device and server authenticate each other before any data is exchanged.</a:t>
            </a:r>
            <a:endParaRPr lang="en-US" sz="1400" dirty="0"/>
          </a:p>
        </p:txBody>
      </p:sp>
      <p:sp>
        <p:nvSpPr>
          <p:cNvPr id="11" name="Icon The base paper claims savings circle"/>
          <p:cNvSpPr/>
          <p:nvPr/>
        </p:nvSpPr>
        <p:spPr>
          <a:xfrm>
            <a:off x="457200" y="3474720"/>
            <a:ext cx="640080" cy="640080"/>
          </a:xfrm>
          <a:prstGeom prst="ellipse">
            <a:avLst/>
          </a:prstGeom>
          <a:solidFill>
            <a:schemeClr val="tx2"/>
          </a:solidFill>
          <a:ln/>
        </p:spPr>
      </p:sp>
      <p:pic>
        <p:nvPicPr>
          <p:cNvPr id="12" name="Image 2" descr="Icon The base paper claims savings">    </p:cNvPr>
          <p:cNvPicPr>
            <a:picLocks noChangeAspect="1"/>
          </p:cNvPicPr>
          <p:nvPr/>
        </p:nvPicPr>
        <p:blipFill>
          <a:blip r:embed="rId3"/>
          <a:stretch>
            <a:fillRect/>
          </a:stretch>
        </p:blipFill>
        <p:spPr>
          <a:xfrm>
            <a:off x="617220" y="3634740"/>
            <a:ext cx="320040" cy="320040"/>
          </a:xfrm>
          <a:prstGeom prst="rect">
            <a:avLst/>
          </a:prstGeom>
        </p:spPr>
      </p:pic>
      <p:sp>
        <p:nvSpPr>
          <p:cNvPr id="13" name="Row head 3"/>
          <p:cNvSpPr txBox="1"/>
          <p:nvPr/>
        </p:nvSpPr>
        <p:spPr>
          <a:xfrm>
            <a:off x="1325880" y="3474720"/>
            <a:ext cx="3931920" cy="320040"/>
          </a:xfrm>
          <a:prstGeom prst="rect">
            <a:avLst/>
          </a:prstGeom>
          <a:noFill/>
          <a:ln/>
        </p:spPr>
        <p:txBody>
          <a:bodyPr wrap="square" lIns="0" tIns="0" rIns="0" bIns="0" rtlCol="0" anchor="t"/>
          <a:lstStyle/>
          <a:p>
            <a:pPr indent="0" marL="0">
              <a:buNone/>
            </a:pPr>
            <a:r>
              <a:rPr lang="en-US" sz="1800" b="1" dirty="0">
                <a:solidFill>
                  <a:schemeClr val="tx2"/>
                </a:solidFill>
              </a:rPr>
              <a:t>The base paper claims savings</a:t>
            </a:r>
            <a:endParaRPr lang="en-US" sz="1800" dirty="0"/>
          </a:p>
        </p:txBody>
      </p:sp>
      <p:sp>
        <p:nvSpPr>
          <p:cNvPr id="14" name="Row text 3"/>
          <p:cNvSpPr txBox="1"/>
          <p:nvPr/>
        </p:nvSpPr>
        <p:spPr>
          <a:xfrm>
            <a:off x="1325880" y="3822192"/>
            <a:ext cx="3931920" cy="594360"/>
          </a:xfrm>
          <a:prstGeom prst="rect">
            <a:avLst/>
          </a:prstGeom>
          <a:noFill/>
          <a:ln/>
        </p:spPr>
        <p:txBody>
          <a:bodyPr wrap="square" lIns="0" tIns="0" rIns="0" bIns="0" rtlCol="0" anchor="t"/>
          <a:lstStyle/>
          <a:p>
            <a:pPr indent="0" marL="0">
              <a:buNone/>
            </a:pPr>
            <a:r>
              <a:rPr lang="en-US" sz="1400" dirty="0">
                <a:solidFill>
                  <a:schemeClr val="tx1"/>
                </a:solidFill>
              </a:rPr>
              <a:t>Al-Rasheed et al., IEEE TCE 72(2), May 2026, proposes a lighter protocol.</a:t>
            </a:r>
            <a:endParaRPr lang="en-US" sz="1400" dirty="0"/>
          </a:p>
        </p:txBody>
      </p:sp>
      <p:sp>
        <p:nvSpPr>
          <p:cNvPr id="15" name="Claim panel"/>
          <p:cNvSpPr/>
          <p:nvPr/>
        </p:nvSpPr>
        <p:spPr>
          <a:xfrm>
            <a:off x="5577840" y="1280160"/>
            <a:ext cx="3108960" cy="3246120"/>
          </a:xfrm>
          <a:prstGeom prst="roundRect">
            <a:avLst>
              <a:gd name="adj" fmla="val 2353"/>
            </a:avLst>
          </a:prstGeom>
          <a:solidFill>
            <a:schemeClr val="bg2"/>
          </a:solidFill>
          <a:ln/>
        </p:spPr>
      </p:sp>
      <p:sp>
        <p:nvSpPr>
          <p:cNvPr id="16" name="Claim panel head"/>
          <p:cNvSpPr txBox="1"/>
          <p:nvPr/>
        </p:nvSpPr>
        <p:spPr>
          <a:xfrm>
            <a:off x="5806440" y="1417320"/>
            <a:ext cx="2651760" cy="457200"/>
          </a:xfrm>
          <a:prstGeom prst="rect">
            <a:avLst/>
          </a:prstGeom>
          <a:noFill/>
          <a:ln/>
        </p:spPr>
        <p:txBody>
          <a:bodyPr wrap="square" lIns="0" tIns="0" rIns="0" bIns="0" rtlCol="0" anchor="t"/>
          <a:lstStyle/>
          <a:p>
            <a:pPr indent="0" marL="0">
              <a:buNone/>
            </a:pPr>
            <a:r>
              <a:rPr lang="en-US" sz="1300" dirty="0">
                <a:solidFill>
                  <a:schemeClr val="accent4"/>
                </a:solidFill>
              </a:rPr>
              <a:t>Claimed reduction vs. prior schemes</a:t>
            </a:r>
            <a:endParaRPr lang="en-US" sz="1300" dirty="0"/>
          </a:p>
        </p:txBody>
      </p:sp>
      <p:sp>
        <p:nvSpPr>
          <p:cNvPr id="17" name="Claim number communication"/>
          <p:cNvSpPr txBox="1"/>
          <p:nvPr/>
        </p:nvSpPr>
        <p:spPr>
          <a:xfrm>
            <a:off x="5806440" y="1920240"/>
            <a:ext cx="128016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17%</a:t>
            </a:r>
            <a:endParaRPr lang="en-US" sz="4000" dirty="0"/>
          </a:p>
        </p:txBody>
      </p:sp>
      <p:sp>
        <p:nvSpPr>
          <p:cNvPr id="18" name="Claim label communication"/>
          <p:cNvSpPr txBox="1"/>
          <p:nvPr/>
        </p:nvSpPr>
        <p:spPr>
          <a:xfrm>
            <a:off x="7132320" y="1920240"/>
            <a:ext cx="1417320" cy="731520"/>
          </a:xfrm>
          <a:prstGeom prst="rect">
            <a:avLst/>
          </a:prstGeom>
          <a:noFill/>
          <a:ln/>
        </p:spPr>
        <p:txBody>
          <a:bodyPr wrap="square" lIns="0" tIns="0" rIns="0" bIns="0" rtlCol="0" anchor="ctr"/>
          <a:lstStyle/>
          <a:p>
            <a:pPr indent="0" marL="0">
              <a:buNone/>
            </a:pPr>
            <a:r>
              <a:rPr lang="en-US" sz="1600" dirty="0">
                <a:solidFill>
                  <a:schemeClr val="tx1"/>
                </a:solidFill>
              </a:rPr>
              <a:t>communication</a:t>
            </a:r>
            <a:endParaRPr lang="en-US" sz="1600" dirty="0"/>
          </a:p>
        </p:txBody>
      </p:sp>
      <p:sp>
        <p:nvSpPr>
          <p:cNvPr id="19" name="Claim number processing"/>
          <p:cNvSpPr txBox="1"/>
          <p:nvPr/>
        </p:nvSpPr>
        <p:spPr>
          <a:xfrm>
            <a:off x="5806440" y="2788920"/>
            <a:ext cx="128016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21%</a:t>
            </a:r>
            <a:endParaRPr lang="en-US" sz="4000" dirty="0"/>
          </a:p>
        </p:txBody>
      </p:sp>
      <p:sp>
        <p:nvSpPr>
          <p:cNvPr id="20" name="Claim label processing"/>
          <p:cNvSpPr txBox="1"/>
          <p:nvPr/>
        </p:nvSpPr>
        <p:spPr>
          <a:xfrm>
            <a:off x="7132320" y="2788920"/>
            <a:ext cx="1417320" cy="731520"/>
          </a:xfrm>
          <a:prstGeom prst="rect">
            <a:avLst/>
          </a:prstGeom>
          <a:noFill/>
          <a:ln/>
        </p:spPr>
        <p:txBody>
          <a:bodyPr wrap="square" lIns="0" tIns="0" rIns="0" bIns="0" rtlCol="0" anchor="ctr"/>
          <a:lstStyle/>
          <a:p>
            <a:pPr indent="0" marL="0">
              <a:buNone/>
            </a:pPr>
            <a:r>
              <a:rPr lang="en-US" sz="1600" dirty="0">
                <a:solidFill>
                  <a:schemeClr val="tx1"/>
                </a:solidFill>
              </a:rPr>
              <a:t>processing</a:t>
            </a:r>
            <a:endParaRPr lang="en-US" sz="1600" dirty="0"/>
          </a:p>
        </p:txBody>
      </p:sp>
      <p:sp>
        <p:nvSpPr>
          <p:cNvPr id="21" name="Claim number storage"/>
          <p:cNvSpPr txBox="1"/>
          <p:nvPr/>
        </p:nvSpPr>
        <p:spPr>
          <a:xfrm>
            <a:off x="5806440" y="3657600"/>
            <a:ext cx="128016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12%</a:t>
            </a:r>
            <a:endParaRPr lang="en-US" sz="4000" dirty="0"/>
          </a:p>
        </p:txBody>
      </p:sp>
      <p:sp>
        <p:nvSpPr>
          <p:cNvPr id="22" name="Claim label storage"/>
          <p:cNvSpPr txBox="1"/>
          <p:nvPr/>
        </p:nvSpPr>
        <p:spPr>
          <a:xfrm>
            <a:off x="7132320" y="3657600"/>
            <a:ext cx="1417320" cy="731520"/>
          </a:xfrm>
          <a:prstGeom prst="rect">
            <a:avLst/>
          </a:prstGeom>
          <a:noFill/>
          <a:ln/>
        </p:spPr>
        <p:txBody>
          <a:bodyPr wrap="square" lIns="0" tIns="0" rIns="0" bIns="0" rtlCol="0" anchor="ctr"/>
          <a:lstStyle/>
          <a:p>
            <a:pPr indent="0" marL="0">
              <a:buNone/>
            </a:pPr>
            <a:r>
              <a:rPr lang="en-US" sz="1600" dirty="0">
                <a:solidFill>
                  <a:schemeClr val="tx1"/>
                </a:solidFill>
              </a:rPr>
              <a:t>storage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000" b="1" dirty="0">
                <a:solidFill>
                  <a:schemeClr val="tx2"/>
                </a:solidFill>
              </a:rPr>
              <a:t>The protocol: two messages, one shared key</a:t>
            </a:r>
            <a:endParaRPr lang="en-US" sz="3000" dirty="0"/>
          </a:p>
        </p:txBody>
      </p:sp>
      <p:sp>
        <p:nvSpPr>
          <p:cNvPr id="3" name="Device box"/>
          <p:cNvSpPr/>
          <p:nvPr/>
        </p:nvSpPr>
        <p:spPr>
          <a:xfrm>
            <a:off x="457200" y="1371600"/>
            <a:ext cx="2011680" cy="1737360"/>
          </a:xfrm>
          <a:prstGeom prst="roundRect">
            <a:avLst>
              <a:gd name="adj" fmla="val 4211"/>
            </a:avLst>
          </a:prstGeom>
          <a:solidFill>
            <a:schemeClr val="tx2"/>
          </a:solidFill>
          <a:ln/>
        </p:spPr>
      </p:sp>
      <p:sp>
        <p:nvSpPr>
          <p:cNvPr id="4" name="Device label"/>
          <p:cNvSpPr txBox="1"/>
          <p:nvPr/>
        </p:nvSpPr>
        <p:spPr>
          <a:xfrm>
            <a:off x="457200" y="1371600"/>
            <a:ext cx="2011680" cy="1737360"/>
          </a:xfrm>
          <a:prstGeom prst="rect">
            <a:avLst/>
          </a:prstGeom>
          <a:noFill/>
          <a:ln/>
        </p:spPr>
        <p:txBody>
          <a:bodyPr wrap="square" lIns="0" tIns="0" rIns="0" bIns="0" rtlCol="0" anchor="ctr"/>
          <a:lstStyle/>
          <a:p>
            <a:pPr algn="ctr" indent="0" marL="0">
              <a:buNone/>
            </a:pPr>
            <a:r>
              <a:rPr lang="en-US" sz="1800" b="1" dirty="0">
                <a:solidFill>
                  <a:schemeClr val="bg1"/>
                </a:solidFill>
              </a:rPr>
              <a:t>IoT device</a:t>
            </a:r>
            <a:endParaRPr lang="en-US" sz="1800" dirty="0"/>
          </a:p>
          <a:p>
            <a:pPr algn="ctr" indent="0" marL="0">
              <a:buNone/>
            </a:pPr>
            <a:r>
              <a:rPr lang="en-US" sz="1400" dirty="0">
                <a:solidFill>
                  <a:schemeClr val="bg1"/>
                </a:solidFill>
              </a:rPr>
              <a:t>holds secret λ</a:t>
            </a:r>
            <a:endParaRPr lang="en-US" sz="1800" dirty="0"/>
          </a:p>
        </p:txBody>
      </p:sp>
      <p:sp>
        <p:nvSpPr>
          <p:cNvPr id="5" name="Server box"/>
          <p:cNvSpPr/>
          <p:nvPr/>
        </p:nvSpPr>
        <p:spPr>
          <a:xfrm>
            <a:off x="6675120" y="1371600"/>
            <a:ext cx="2011680" cy="1737360"/>
          </a:xfrm>
          <a:prstGeom prst="roundRect">
            <a:avLst>
              <a:gd name="adj" fmla="val 4211"/>
            </a:avLst>
          </a:prstGeom>
          <a:solidFill>
            <a:schemeClr val="tx2"/>
          </a:solidFill>
          <a:ln/>
        </p:spPr>
      </p:sp>
      <p:sp>
        <p:nvSpPr>
          <p:cNvPr id="6" name="Server label"/>
          <p:cNvSpPr txBox="1"/>
          <p:nvPr/>
        </p:nvSpPr>
        <p:spPr>
          <a:xfrm>
            <a:off x="6675120" y="1371600"/>
            <a:ext cx="2011680" cy="1737360"/>
          </a:xfrm>
          <a:prstGeom prst="rect">
            <a:avLst/>
          </a:prstGeom>
          <a:noFill/>
          <a:ln/>
        </p:spPr>
        <p:txBody>
          <a:bodyPr wrap="square" lIns="0" tIns="0" rIns="0" bIns="0" rtlCol="0" anchor="ctr"/>
          <a:lstStyle/>
          <a:p>
            <a:pPr algn="ctr" indent="0" marL="0">
              <a:buNone/>
            </a:pPr>
            <a:r>
              <a:rPr lang="en-US" sz="1800" b="1" dirty="0">
                <a:solidFill>
                  <a:schemeClr val="bg1"/>
                </a:solidFill>
              </a:rPr>
              <a:t>Server</a:t>
            </a:r>
            <a:endParaRPr lang="en-US" sz="1800" dirty="0"/>
          </a:p>
          <a:p>
            <a:pPr algn="ctr" indent="0" marL="0">
              <a:buNone/>
            </a:pPr>
            <a:r>
              <a:rPr lang="en-US" sz="1400" dirty="0">
                <a:solidFill>
                  <a:schemeClr val="bg1"/>
                </a:solidFill>
              </a:rPr>
              <a:t>holds secret λ</a:t>
            </a:r>
            <a:endParaRPr lang="en-US" sz="1800" dirty="0"/>
          </a:p>
        </p:txBody>
      </p:sp>
      <p:sp>
        <p:nvSpPr>
          <p:cNvPr id="7" name="M1 arrow"/>
          <p:cNvSpPr/>
          <p:nvPr/>
        </p:nvSpPr>
        <p:spPr>
          <a:xfrm>
            <a:off x="2606040" y="1965960"/>
            <a:ext cx="3931920" cy="0"/>
          </a:xfrm>
          <a:prstGeom prst="line">
            <a:avLst/>
          </a:prstGeom>
          <a:noFill/>
          <a:ln w="31750">
            <a:solidFill>
              <a:srgbClr val="C0452F"/>
            </a:solidFill>
            <a:prstDash val="solid"/>
            <a:tailEnd type="triangle"/>
          </a:ln>
        </p:spPr>
      </p:sp>
      <p:sp>
        <p:nvSpPr>
          <p:cNvPr id="8" name="M1 label"/>
          <p:cNvSpPr txBox="1"/>
          <p:nvPr/>
        </p:nvSpPr>
        <p:spPr>
          <a:xfrm>
            <a:off x="2606040" y="1463040"/>
            <a:ext cx="3931920" cy="411480"/>
          </a:xfrm>
          <a:prstGeom prst="rect">
            <a:avLst/>
          </a:prstGeom>
          <a:noFill/>
          <a:ln/>
        </p:spPr>
        <p:txBody>
          <a:bodyPr wrap="square" lIns="0" tIns="0" rIns="0" bIns="0" rtlCol="0" anchor="b"/>
          <a:lstStyle/>
          <a:p>
            <a:pPr algn="ctr" indent="0" marL="0">
              <a:buNone/>
            </a:pPr>
            <a:r>
              <a:rPr lang="en-US" sz="1300" b="1" dirty="0">
                <a:solidFill>
                  <a:schemeClr val="accent2"/>
                </a:solidFill>
              </a:rPr>
              <a:t>M1  </a:t>
            </a:r>
            <a:pPr algn="ctr" indent="0" marL="0">
              <a:buNone/>
            </a:pPr>
            <a:r>
              <a:rPr lang="en-US" sz="1300" dirty="0">
                <a:solidFill>
                  <a:schemeClr val="tx1"/>
                </a:solidFill>
              </a:rPr>
              <a:t>fresh pseudonym, encrypted nonce Ni, tag</a:t>
            </a:r>
            <a:endParaRPr lang="en-US" sz="1300" dirty="0"/>
          </a:p>
        </p:txBody>
      </p:sp>
      <p:sp>
        <p:nvSpPr>
          <p:cNvPr id="9" name="M2 arrow"/>
          <p:cNvSpPr/>
          <p:nvPr/>
        </p:nvSpPr>
        <p:spPr>
          <a:xfrm flipH="1">
            <a:off x="2606040" y="2788920"/>
            <a:ext cx="3931920" cy="0"/>
          </a:xfrm>
          <a:prstGeom prst="line">
            <a:avLst/>
          </a:prstGeom>
          <a:noFill/>
          <a:ln w="31750">
            <a:solidFill>
              <a:srgbClr val="2A7F62"/>
            </a:solidFill>
            <a:prstDash val="solid"/>
            <a:tailEnd type="triangle"/>
          </a:ln>
        </p:spPr>
      </p:sp>
      <p:sp>
        <p:nvSpPr>
          <p:cNvPr id="10" name="M2 label"/>
          <p:cNvSpPr txBox="1"/>
          <p:nvPr/>
        </p:nvSpPr>
        <p:spPr>
          <a:xfrm>
            <a:off x="2606040" y="2286000"/>
            <a:ext cx="3931920" cy="411480"/>
          </a:xfrm>
          <a:prstGeom prst="rect">
            <a:avLst/>
          </a:prstGeom>
          <a:noFill/>
          <a:ln/>
        </p:spPr>
        <p:txBody>
          <a:bodyPr wrap="square" lIns="0" tIns="0" rIns="0" bIns="0" rtlCol="0" anchor="b"/>
          <a:lstStyle/>
          <a:p>
            <a:pPr algn="ctr" indent="0" marL="0">
              <a:buNone/>
            </a:pPr>
            <a:r>
              <a:rPr lang="en-US" sz="1300" b="1" dirty="0">
                <a:solidFill>
                  <a:schemeClr val="accent3"/>
                </a:solidFill>
              </a:rPr>
              <a:t>M2  </a:t>
            </a:r>
            <a:pPr algn="ctr" indent="0" marL="0">
              <a:buNone/>
            </a:pPr>
            <a:r>
              <a:rPr lang="en-US" sz="1300" dirty="0">
                <a:solidFill>
                  <a:schemeClr val="tx1"/>
                </a:solidFill>
              </a:rPr>
              <a:t>server nonce Nj, proof it knew the secret</a:t>
            </a:r>
            <a:endParaRPr lang="en-US" sz="1300" dirty="0"/>
          </a:p>
        </p:txBody>
      </p:sp>
      <p:sp>
        <p:nvSpPr>
          <p:cNvPr id="11" name="Session key card"/>
          <p:cNvSpPr/>
          <p:nvPr/>
        </p:nvSpPr>
        <p:spPr>
          <a:xfrm>
            <a:off x="457200" y="3383280"/>
            <a:ext cx="5029200" cy="1143000"/>
          </a:xfrm>
          <a:prstGeom prst="roundRect">
            <a:avLst>
              <a:gd name="adj" fmla="val 6400"/>
            </a:avLst>
          </a:prstGeom>
          <a:solidFill>
            <a:schemeClr val="bg2"/>
          </a:solidFill>
          <a:ln/>
        </p:spPr>
      </p:sp>
      <p:sp>
        <p:nvSpPr>
          <p:cNvPr id="12" name="Session key head"/>
          <p:cNvSpPr txBox="1"/>
          <p:nvPr/>
        </p:nvSpPr>
        <p:spPr>
          <a:xfrm>
            <a:off x="685800" y="3493008"/>
            <a:ext cx="4572000" cy="274320"/>
          </a:xfrm>
          <a:prstGeom prst="rect">
            <a:avLst/>
          </a:prstGeom>
          <a:noFill/>
          <a:ln/>
        </p:spPr>
        <p:txBody>
          <a:bodyPr wrap="square" lIns="0" tIns="0" rIns="0" bIns="0" rtlCol="0" anchor="t"/>
          <a:lstStyle/>
          <a:p>
            <a:pPr indent="0" marL="0">
              <a:buNone/>
            </a:pPr>
            <a:r>
              <a:rPr lang="en-US" sz="1400" dirty="0">
                <a:solidFill>
                  <a:schemeClr val="accent4"/>
                </a:solidFill>
              </a:rPr>
              <a:t>Both sides then compute the same session key</a:t>
            </a:r>
            <a:endParaRPr lang="en-US" sz="1400" dirty="0"/>
          </a:p>
        </p:txBody>
      </p:sp>
      <p:sp>
        <p:nvSpPr>
          <p:cNvPr id="13" name="Session key formula"/>
          <p:cNvSpPr txBox="1"/>
          <p:nvPr/>
        </p:nvSpPr>
        <p:spPr>
          <a:xfrm>
            <a:off x="685800" y="3840480"/>
            <a:ext cx="4572000" cy="502920"/>
          </a:xfrm>
          <a:prstGeom prst="rect">
            <a:avLst/>
          </a:prstGeom>
          <a:noFill/>
          <a:ln/>
        </p:spPr>
        <p:txBody>
          <a:bodyPr wrap="square" lIns="0" tIns="0" rIns="0" bIns="0" rtlCol="0" anchor="ctr"/>
          <a:lstStyle/>
          <a:p>
            <a:pPr indent="0" marL="0">
              <a:buNone/>
            </a:pPr>
            <a:r>
              <a:rPr lang="en-US" sz="2200" b="1" dirty="0">
                <a:solidFill>
                  <a:schemeClr val="tx2"/>
                </a:solidFill>
                <a:latin typeface="Courier New" pitchFamily="34" charset="0"/>
                <a:ea typeface="Courier New" pitchFamily="34" charset="-122"/>
                <a:cs typeface="Courier New" pitchFamily="34" charset="-120"/>
              </a:rPr>
              <a:t>K = KDF( k* ‖ Ni ‖ Nj ‖ t )</a:t>
            </a:r>
            <a:endParaRPr lang="en-US" sz="2200" dirty="0"/>
          </a:p>
        </p:txBody>
      </p:sp>
      <p:sp>
        <p:nvSpPr>
          <p:cNvPr id="14" name="Offline online card"/>
          <p:cNvSpPr/>
          <p:nvPr/>
        </p:nvSpPr>
        <p:spPr>
          <a:xfrm>
            <a:off x="5760720" y="3383280"/>
            <a:ext cx="2926080" cy="1143000"/>
          </a:xfrm>
          <a:prstGeom prst="roundRect">
            <a:avLst>
              <a:gd name="adj" fmla="val 6400"/>
            </a:avLst>
          </a:prstGeom>
          <a:solidFill>
            <a:schemeClr val="bg2"/>
          </a:solidFill>
          <a:ln/>
        </p:spPr>
      </p:sp>
      <p:sp>
        <p:nvSpPr>
          <p:cNvPr id="15" name="Offline online text"/>
          <p:cNvSpPr txBox="1"/>
          <p:nvPr/>
        </p:nvSpPr>
        <p:spPr>
          <a:xfrm>
            <a:off x="5943600" y="3474720"/>
            <a:ext cx="2560320" cy="960120"/>
          </a:xfrm>
          <a:prstGeom prst="rect">
            <a:avLst/>
          </a:prstGeom>
          <a:noFill/>
          <a:ln/>
        </p:spPr>
        <p:txBody>
          <a:bodyPr wrap="square" lIns="0" tIns="0" rIns="0" bIns="0" rtlCol="0" anchor="t"/>
          <a:lstStyle/>
          <a:p>
            <a:pPr indent="0" marL="0">
              <a:buNone/>
            </a:pPr>
            <a:r>
              <a:rPr lang="en-US" sz="1300" b="1" dirty="0">
                <a:solidFill>
                  <a:schemeClr val="tx2"/>
                </a:solidFill>
              </a:rPr>
              <a:t>Where is the ECC?</a:t>
            </a:r>
            <a:endParaRPr lang="en-US" sz="1300" dirty="0"/>
          </a:p>
          <a:p>
            <a:pPr indent="0" marL="0">
              <a:buNone/>
            </a:pPr>
            <a:r>
              <a:rPr lang="en-US" sz="1300" dirty="0">
                <a:solidFill>
                  <a:schemeClr val="tx1"/>
                </a:solidFill>
              </a:rPr>
              <a:t>Only offline, when a trusted authority issues secrets. Online: hashes, AES-GCM, HKDF.</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000" b="1" dirty="0">
                <a:solidFill>
                  <a:schemeClr val="tx2"/>
                </a:solidFill>
              </a:rPr>
              <a:t>How the paper argued it is cheap</a:t>
            </a:r>
            <a:endParaRPr lang="en-US" sz="3000" dirty="0"/>
          </a:p>
        </p:txBody>
      </p:sp>
      <p:sp>
        <p:nvSpPr>
          <p:cNvPr id="3" name="Formula card"/>
          <p:cNvSpPr/>
          <p:nvPr/>
        </p:nvSpPr>
        <p:spPr>
          <a:xfrm>
            <a:off x="457200" y="1280160"/>
            <a:ext cx="8229600" cy="777240"/>
          </a:xfrm>
          <a:prstGeom prst="roundRect">
            <a:avLst>
              <a:gd name="adj" fmla="val 9412"/>
            </a:avLst>
          </a:prstGeom>
          <a:solidFill>
            <a:schemeClr val="bg2"/>
          </a:solidFill>
          <a:ln/>
        </p:spPr>
      </p:sp>
      <p:sp>
        <p:nvSpPr>
          <p:cNvPr id="4" name="Formula"/>
          <p:cNvSpPr txBox="1"/>
          <p:nvPr/>
        </p:nvSpPr>
        <p:spPr>
          <a:xfrm>
            <a:off x="685800" y="1280160"/>
            <a:ext cx="7772400" cy="77724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cost  =  n_hash × T_H  +  n_enc × T_SE/D  +  n_ECC × T_ECM</a:t>
            </a:r>
            <a:endParaRPr lang="en-US" sz="1500" dirty="0"/>
          </a:p>
        </p:txBody>
      </p:sp>
      <p:sp>
        <p:nvSpPr>
          <p:cNvPr id="5" name="Price card T_H"/>
          <p:cNvSpPr/>
          <p:nvPr/>
        </p:nvSpPr>
        <p:spPr>
          <a:xfrm>
            <a:off x="457200" y="2286000"/>
            <a:ext cx="2560320" cy="1234440"/>
          </a:xfrm>
          <a:prstGeom prst="roundRect">
            <a:avLst>
              <a:gd name="adj" fmla="val 5926"/>
            </a:avLst>
          </a:prstGeom>
          <a:solidFill>
            <a:schemeClr val="bg1"/>
          </a:solidFill>
          <a:ln w="12700">
            <a:solidFill>
              <a:srgbClr val="D5DBE5"/>
            </a:solidFill>
            <a:prstDash val="solid"/>
          </a:ln>
        </p:spPr>
      </p:sp>
      <p:sp>
        <p:nvSpPr>
          <p:cNvPr id="6" name="Price name T_H"/>
          <p:cNvSpPr txBox="1"/>
          <p:nvPr/>
        </p:nvSpPr>
        <p:spPr>
          <a:xfrm>
            <a:off x="640080" y="2377440"/>
            <a:ext cx="2194560" cy="27432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T_H  (assumed)</a:t>
            </a:r>
            <a:endParaRPr lang="en-US" sz="1200" dirty="0"/>
          </a:p>
        </p:txBody>
      </p:sp>
      <p:sp>
        <p:nvSpPr>
          <p:cNvPr id="7" name="Price value T_H"/>
          <p:cNvSpPr txBox="1"/>
          <p:nvPr/>
        </p:nvSpPr>
        <p:spPr>
          <a:xfrm>
            <a:off x="640080" y="2651760"/>
            <a:ext cx="2194560" cy="5029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0.32 ms</a:t>
            </a:r>
            <a:endParaRPr lang="en-US" sz="3000" dirty="0"/>
          </a:p>
        </p:txBody>
      </p:sp>
      <p:sp>
        <p:nvSpPr>
          <p:cNvPr id="8" name="Price desc T_H"/>
          <p:cNvSpPr txBox="1"/>
          <p:nvPr/>
        </p:nvSpPr>
        <p:spPr>
          <a:xfrm>
            <a:off x="640080" y="3154680"/>
            <a:ext cx="2194560" cy="274320"/>
          </a:xfrm>
          <a:prstGeom prst="rect">
            <a:avLst/>
          </a:prstGeom>
          <a:noFill/>
          <a:ln/>
        </p:spPr>
        <p:txBody>
          <a:bodyPr wrap="square" lIns="0" tIns="0" rIns="0" bIns="0" rtlCol="0" anchor="t"/>
          <a:lstStyle/>
          <a:p>
            <a:pPr indent="0" marL="0">
              <a:buNone/>
            </a:pPr>
            <a:r>
              <a:rPr lang="en-US" sz="1200" dirty="0">
                <a:solidFill>
                  <a:schemeClr val="tx1"/>
                </a:solidFill>
              </a:rPr>
              <a:t>one SHA-1 hash</a:t>
            </a:r>
            <a:endParaRPr lang="en-US" sz="1200" dirty="0"/>
          </a:p>
        </p:txBody>
      </p:sp>
      <p:sp>
        <p:nvSpPr>
          <p:cNvPr id="9" name="Price card T_SE/D"/>
          <p:cNvSpPr/>
          <p:nvPr/>
        </p:nvSpPr>
        <p:spPr>
          <a:xfrm>
            <a:off x="3291840" y="2286000"/>
            <a:ext cx="2560320" cy="1234440"/>
          </a:xfrm>
          <a:prstGeom prst="roundRect">
            <a:avLst>
              <a:gd name="adj" fmla="val 5926"/>
            </a:avLst>
          </a:prstGeom>
          <a:solidFill>
            <a:schemeClr val="bg1"/>
          </a:solidFill>
          <a:ln w="12700">
            <a:solidFill>
              <a:srgbClr val="D5DBE5"/>
            </a:solidFill>
            <a:prstDash val="solid"/>
          </a:ln>
        </p:spPr>
      </p:sp>
      <p:sp>
        <p:nvSpPr>
          <p:cNvPr id="10" name="Price name T_SE/D"/>
          <p:cNvSpPr txBox="1"/>
          <p:nvPr/>
        </p:nvSpPr>
        <p:spPr>
          <a:xfrm>
            <a:off x="3474720" y="2377440"/>
            <a:ext cx="2194560" cy="27432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T_SE/D  (assumed)</a:t>
            </a:r>
            <a:endParaRPr lang="en-US" sz="1200" dirty="0"/>
          </a:p>
        </p:txBody>
      </p:sp>
      <p:sp>
        <p:nvSpPr>
          <p:cNvPr id="11" name="Price value T_SE/D"/>
          <p:cNvSpPr txBox="1"/>
          <p:nvPr/>
        </p:nvSpPr>
        <p:spPr>
          <a:xfrm>
            <a:off x="3474720" y="2651760"/>
            <a:ext cx="2194560" cy="5029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5.6 ms</a:t>
            </a:r>
            <a:endParaRPr lang="en-US" sz="3000" dirty="0"/>
          </a:p>
        </p:txBody>
      </p:sp>
      <p:sp>
        <p:nvSpPr>
          <p:cNvPr id="12" name="Price desc T_SE/D"/>
          <p:cNvSpPr txBox="1"/>
          <p:nvPr/>
        </p:nvSpPr>
        <p:spPr>
          <a:xfrm>
            <a:off x="3474720" y="3154680"/>
            <a:ext cx="2194560" cy="274320"/>
          </a:xfrm>
          <a:prstGeom prst="rect">
            <a:avLst/>
          </a:prstGeom>
          <a:noFill/>
          <a:ln/>
        </p:spPr>
        <p:txBody>
          <a:bodyPr wrap="square" lIns="0" tIns="0" rIns="0" bIns="0" rtlCol="0" anchor="t"/>
          <a:lstStyle/>
          <a:p>
            <a:pPr indent="0" marL="0">
              <a:buNone/>
            </a:pPr>
            <a:r>
              <a:rPr lang="en-US" sz="1200" dirty="0">
                <a:solidFill>
                  <a:schemeClr val="tx1"/>
                </a:solidFill>
              </a:rPr>
              <a:t>one symmetric encrypt / decrypt</a:t>
            </a:r>
            <a:endParaRPr lang="en-US" sz="1200" dirty="0"/>
          </a:p>
        </p:txBody>
      </p:sp>
      <p:sp>
        <p:nvSpPr>
          <p:cNvPr id="13" name="Price card T_ECM"/>
          <p:cNvSpPr/>
          <p:nvPr/>
        </p:nvSpPr>
        <p:spPr>
          <a:xfrm>
            <a:off x="6126480" y="2286000"/>
            <a:ext cx="2560320" cy="1234440"/>
          </a:xfrm>
          <a:prstGeom prst="roundRect">
            <a:avLst>
              <a:gd name="adj" fmla="val 5926"/>
            </a:avLst>
          </a:prstGeom>
          <a:solidFill>
            <a:schemeClr val="bg1"/>
          </a:solidFill>
          <a:ln w="12700">
            <a:solidFill>
              <a:srgbClr val="D5DBE5"/>
            </a:solidFill>
            <a:prstDash val="solid"/>
          </a:ln>
        </p:spPr>
      </p:sp>
      <p:sp>
        <p:nvSpPr>
          <p:cNvPr id="14" name="Price name T_ECM"/>
          <p:cNvSpPr txBox="1"/>
          <p:nvPr/>
        </p:nvSpPr>
        <p:spPr>
          <a:xfrm>
            <a:off x="6309360" y="2377440"/>
            <a:ext cx="2194560" cy="27432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T_ECM  (assumed)</a:t>
            </a:r>
            <a:endParaRPr lang="en-US" sz="1200" dirty="0"/>
          </a:p>
        </p:txBody>
      </p:sp>
      <p:sp>
        <p:nvSpPr>
          <p:cNvPr id="15" name="Price value T_ECM"/>
          <p:cNvSpPr txBox="1"/>
          <p:nvPr/>
        </p:nvSpPr>
        <p:spPr>
          <a:xfrm>
            <a:off x="6309360" y="2651760"/>
            <a:ext cx="2194560" cy="5029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17.1 ms</a:t>
            </a:r>
            <a:endParaRPr lang="en-US" sz="3000" dirty="0"/>
          </a:p>
        </p:txBody>
      </p:sp>
      <p:sp>
        <p:nvSpPr>
          <p:cNvPr id="16" name="Price desc T_ECM"/>
          <p:cNvSpPr txBox="1"/>
          <p:nvPr/>
        </p:nvSpPr>
        <p:spPr>
          <a:xfrm>
            <a:off x="6309360" y="3154680"/>
            <a:ext cx="2194560" cy="274320"/>
          </a:xfrm>
          <a:prstGeom prst="rect">
            <a:avLst/>
          </a:prstGeom>
          <a:noFill/>
          <a:ln/>
        </p:spPr>
        <p:txBody>
          <a:bodyPr wrap="square" lIns="0" tIns="0" rIns="0" bIns="0" rtlCol="0" anchor="t"/>
          <a:lstStyle/>
          <a:p>
            <a:pPr indent="0" marL="0">
              <a:buNone/>
            </a:pPr>
            <a:r>
              <a:rPr lang="en-US" sz="1200" dirty="0">
                <a:solidFill>
                  <a:schemeClr val="tx1"/>
                </a:solidFill>
              </a:rPr>
              <a:t>one ECC scalar multiplication</a:t>
            </a:r>
            <a:endParaRPr lang="en-US" sz="1200" dirty="0"/>
          </a:p>
        </p:txBody>
      </p:sp>
      <p:sp>
        <p:nvSpPr>
          <p:cNvPr id="17" name="Warning card"/>
          <p:cNvSpPr/>
          <p:nvPr/>
        </p:nvSpPr>
        <p:spPr>
          <a:xfrm>
            <a:off x="457200" y="3749040"/>
            <a:ext cx="8229600" cy="777240"/>
          </a:xfrm>
          <a:prstGeom prst="roundRect">
            <a:avLst>
              <a:gd name="adj" fmla="val 9412"/>
            </a:avLst>
          </a:prstGeom>
          <a:solidFill>
            <a:schemeClr val="accent2">
              <a:alpha val="12000"/>
            </a:schemeClr>
          </a:solidFill>
          <a:ln/>
        </p:spPr>
      </p:sp>
      <p:sp>
        <p:nvSpPr>
          <p:cNvPr id="18" name="Warning icon circle"/>
          <p:cNvSpPr/>
          <p:nvPr/>
        </p:nvSpPr>
        <p:spPr>
          <a:xfrm>
            <a:off x="640080" y="3858768"/>
            <a:ext cx="548640" cy="548640"/>
          </a:xfrm>
          <a:prstGeom prst="ellipse">
            <a:avLst/>
          </a:prstGeom>
          <a:solidFill>
            <a:schemeClr val="accent2"/>
          </a:solidFill>
          <a:ln/>
        </p:spPr>
      </p:sp>
      <p:pic>
        <p:nvPicPr>
          <p:cNvPr id="19" name="Image 0" descr="Warning icon">    </p:cNvPr>
          <p:cNvPicPr>
            <a:picLocks noChangeAspect="1"/>
          </p:cNvPicPr>
          <p:nvPr/>
        </p:nvPicPr>
        <p:blipFill>
          <a:blip r:embed="rId1"/>
          <a:stretch>
            <a:fillRect/>
          </a:stretch>
        </p:blipFill>
        <p:spPr>
          <a:xfrm>
            <a:off x="777240" y="3995928"/>
            <a:ext cx="274320" cy="274320"/>
          </a:xfrm>
          <a:prstGeom prst="rect">
            <a:avLst/>
          </a:prstGeom>
        </p:spPr>
      </p:pic>
      <p:sp>
        <p:nvSpPr>
          <p:cNvPr id="20" name="Warning text"/>
          <p:cNvSpPr txBox="1"/>
          <p:nvPr/>
        </p:nvSpPr>
        <p:spPr>
          <a:xfrm>
            <a:off x="1371600" y="3749040"/>
            <a:ext cx="7132320" cy="777240"/>
          </a:xfrm>
          <a:prstGeom prst="rect">
            <a:avLst/>
          </a:prstGeom>
          <a:noFill/>
          <a:ln/>
        </p:spPr>
        <p:txBody>
          <a:bodyPr wrap="square" lIns="0" tIns="0" rIns="0" bIns="0" rtlCol="0" anchor="ctr"/>
          <a:lstStyle/>
          <a:p>
            <a:pPr indent="0" marL="0">
              <a:buNone/>
            </a:pPr>
            <a:r>
              <a:rPr lang="en-US" sz="1400" dirty="0">
                <a:solidFill>
                  <a:schemeClr val="tx1"/>
                </a:solidFill>
              </a:rPr>
              <a:t>These prices were assumed, not measured. The OMNeT++ simulation behind Fig. 1 has no published code, scenario or data, so it cannot be re-run.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000" b="1" dirty="0">
                <a:solidFill>
                  <a:schemeClr val="tx2"/>
                </a:solidFill>
              </a:rPr>
              <a:t>What we did</a:t>
            </a:r>
            <a:endParaRPr lang="en-US" sz="3000" dirty="0"/>
          </a:p>
        </p:txBody>
      </p:sp>
      <p:sp>
        <p:nvSpPr>
          <p:cNvPr id="3" name="Step card 1"/>
          <p:cNvSpPr/>
          <p:nvPr/>
        </p:nvSpPr>
        <p:spPr>
          <a:xfrm>
            <a:off x="457200" y="1325880"/>
            <a:ext cx="1920240" cy="2331720"/>
          </a:xfrm>
          <a:prstGeom prst="roundRect">
            <a:avLst>
              <a:gd name="adj" fmla="val 3810"/>
            </a:avLst>
          </a:prstGeom>
          <a:solidFill>
            <a:schemeClr val="bg2"/>
          </a:solidFill>
          <a:ln/>
        </p:spPr>
      </p:sp>
      <p:sp>
        <p:nvSpPr>
          <p:cNvPr id="4" name="Step icon 1 circle"/>
          <p:cNvSpPr/>
          <p:nvPr/>
        </p:nvSpPr>
        <p:spPr>
          <a:xfrm>
            <a:off x="640080" y="1508760"/>
            <a:ext cx="548640" cy="548640"/>
          </a:xfrm>
          <a:prstGeom prst="ellipse">
            <a:avLst/>
          </a:prstGeom>
          <a:solidFill>
            <a:schemeClr val="tx2"/>
          </a:solidFill>
          <a:ln/>
        </p:spPr>
      </p:sp>
      <p:pic>
        <p:nvPicPr>
          <p:cNvPr id="5" name="Image 0" descr="Step icon 1">    </p:cNvPr>
          <p:cNvPicPr>
            <a:picLocks noChangeAspect="1"/>
          </p:cNvPicPr>
          <p:nvPr/>
        </p:nvPicPr>
        <p:blipFill>
          <a:blip r:embed="rId1"/>
          <a:stretch>
            <a:fillRect/>
          </a:stretch>
        </p:blipFill>
        <p:spPr>
          <a:xfrm>
            <a:off x="777240" y="1645920"/>
            <a:ext cx="274320" cy="274320"/>
          </a:xfrm>
          <a:prstGeom prst="rect">
            <a:avLst/>
          </a:prstGeom>
        </p:spPr>
      </p:pic>
      <p:sp>
        <p:nvSpPr>
          <p:cNvPr id="6" name="Step head 1"/>
          <p:cNvSpPr txBox="1"/>
          <p:nvPr/>
        </p:nvSpPr>
        <p:spPr>
          <a:xfrm>
            <a:off x="640080" y="2212848"/>
            <a:ext cx="1554480" cy="320040"/>
          </a:xfrm>
          <a:prstGeom prst="rect">
            <a:avLst/>
          </a:prstGeom>
          <a:noFill/>
          <a:ln/>
        </p:spPr>
        <p:txBody>
          <a:bodyPr wrap="square" lIns="0" tIns="0" rIns="0" bIns="0" rtlCol="0" anchor="t"/>
          <a:lstStyle/>
          <a:p>
            <a:pPr indent="0" marL="0">
              <a:buNone/>
            </a:pPr>
            <a:r>
              <a:rPr lang="en-US" sz="1800" b="1" dirty="0">
                <a:solidFill>
                  <a:schemeClr val="tx2"/>
                </a:solidFill>
              </a:rPr>
              <a:t>1  Audit</a:t>
            </a:r>
            <a:endParaRPr lang="en-US" sz="1800" dirty="0"/>
          </a:p>
        </p:txBody>
      </p:sp>
      <p:sp>
        <p:nvSpPr>
          <p:cNvPr id="7" name="Step text 1"/>
          <p:cNvSpPr txBox="1"/>
          <p:nvPr/>
        </p:nvSpPr>
        <p:spPr>
          <a:xfrm>
            <a:off x="640080" y="2578608"/>
            <a:ext cx="1554480" cy="1005840"/>
          </a:xfrm>
          <a:prstGeom prst="rect">
            <a:avLst/>
          </a:prstGeom>
          <a:noFill/>
          <a:ln/>
        </p:spPr>
        <p:txBody>
          <a:bodyPr wrap="square" lIns="0" tIns="0" rIns="0" bIns="0" rtlCol="0" anchor="t"/>
          <a:lstStyle/>
          <a:p>
            <a:pPr indent="0" marL="0">
              <a:buNone/>
            </a:pPr>
            <a:r>
              <a:rPr lang="en-US" sz="1300" dirty="0">
                <a:solidFill>
                  <a:schemeClr val="tx1"/>
                </a:solidFill>
              </a:rPr>
              <a:t>Checked every table and figure against the paper's own text.</a:t>
            </a:r>
            <a:endParaRPr lang="en-US" sz="1300" dirty="0"/>
          </a:p>
        </p:txBody>
      </p:sp>
      <p:sp>
        <p:nvSpPr>
          <p:cNvPr id="8" name="Step card 2"/>
          <p:cNvSpPr/>
          <p:nvPr/>
        </p:nvSpPr>
        <p:spPr>
          <a:xfrm>
            <a:off x="2560320" y="1325880"/>
            <a:ext cx="1920240" cy="2331720"/>
          </a:xfrm>
          <a:prstGeom prst="roundRect">
            <a:avLst>
              <a:gd name="adj" fmla="val 3810"/>
            </a:avLst>
          </a:prstGeom>
          <a:solidFill>
            <a:schemeClr val="bg2"/>
          </a:solidFill>
          <a:ln/>
        </p:spPr>
      </p:sp>
      <p:sp>
        <p:nvSpPr>
          <p:cNvPr id="9" name="Step icon 2 circle"/>
          <p:cNvSpPr/>
          <p:nvPr/>
        </p:nvSpPr>
        <p:spPr>
          <a:xfrm>
            <a:off x="2743200" y="1508760"/>
            <a:ext cx="548640" cy="548640"/>
          </a:xfrm>
          <a:prstGeom prst="ellipse">
            <a:avLst/>
          </a:prstGeom>
          <a:solidFill>
            <a:schemeClr val="tx2"/>
          </a:solidFill>
          <a:ln/>
        </p:spPr>
      </p:sp>
      <p:pic>
        <p:nvPicPr>
          <p:cNvPr id="10" name="Image 1" descr="Step icon 2">    </p:cNvPr>
          <p:cNvPicPr>
            <a:picLocks noChangeAspect="1"/>
          </p:cNvPicPr>
          <p:nvPr/>
        </p:nvPicPr>
        <p:blipFill>
          <a:blip r:embed="rId2"/>
          <a:stretch>
            <a:fillRect/>
          </a:stretch>
        </p:blipFill>
        <p:spPr>
          <a:xfrm>
            <a:off x="2880360" y="1645920"/>
            <a:ext cx="274320" cy="274320"/>
          </a:xfrm>
          <a:prstGeom prst="rect">
            <a:avLst/>
          </a:prstGeom>
        </p:spPr>
      </p:pic>
      <p:sp>
        <p:nvSpPr>
          <p:cNvPr id="11" name="Step head 2"/>
          <p:cNvSpPr txBox="1"/>
          <p:nvPr/>
        </p:nvSpPr>
        <p:spPr>
          <a:xfrm>
            <a:off x="2743200" y="2212848"/>
            <a:ext cx="1554480" cy="320040"/>
          </a:xfrm>
          <a:prstGeom prst="rect">
            <a:avLst/>
          </a:prstGeom>
          <a:noFill/>
          <a:ln/>
        </p:spPr>
        <p:txBody>
          <a:bodyPr wrap="square" lIns="0" tIns="0" rIns="0" bIns="0" rtlCol="0" anchor="t"/>
          <a:lstStyle/>
          <a:p>
            <a:pPr indent="0" marL="0">
              <a:buNone/>
            </a:pPr>
            <a:r>
              <a:rPr lang="en-US" sz="1800" b="1" dirty="0">
                <a:solidFill>
                  <a:schemeClr val="tx2"/>
                </a:solidFill>
              </a:rPr>
              <a:t>2  Implement</a:t>
            </a:r>
            <a:endParaRPr lang="en-US" sz="1800" dirty="0"/>
          </a:p>
        </p:txBody>
      </p:sp>
      <p:sp>
        <p:nvSpPr>
          <p:cNvPr id="12" name="Step text 2"/>
          <p:cNvSpPr txBox="1"/>
          <p:nvPr/>
        </p:nvSpPr>
        <p:spPr>
          <a:xfrm>
            <a:off x="2743200" y="2578608"/>
            <a:ext cx="1554480" cy="1005840"/>
          </a:xfrm>
          <a:prstGeom prst="rect">
            <a:avLst/>
          </a:prstGeom>
          <a:noFill/>
          <a:ln/>
        </p:spPr>
        <p:txBody>
          <a:bodyPr wrap="square" lIns="0" tIns="0" rIns="0" bIns="0" rtlCol="0" anchor="t"/>
          <a:lstStyle/>
          <a:p>
            <a:pPr indent="0" marL="0">
              <a:buNone/>
            </a:pPr>
            <a:r>
              <a:rPr lang="en-US" sz="1300" dirty="0">
                <a:solidFill>
                  <a:schemeClr val="tx1"/>
                </a:solidFill>
              </a:rPr>
              <a:t>Python reference plus an independent C core, equation by equation.</a:t>
            </a:r>
            <a:endParaRPr lang="en-US" sz="1300" dirty="0"/>
          </a:p>
        </p:txBody>
      </p:sp>
      <p:sp>
        <p:nvSpPr>
          <p:cNvPr id="13" name="Step card 3"/>
          <p:cNvSpPr/>
          <p:nvPr/>
        </p:nvSpPr>
        <p:spPr>
          <a:xfrm>
            <a:off x="4663440" y="1325880"/>
            <a:ext cx="1920240" cy="2331720"/>
          </a:xfrm>
          <a:prstGeom prst="roundRect">
            <a:avLst>
              <a:gd name="adj" fmla="val 3810"/>
            </a:avLst>
          </a:prstGeom>
          <a:solidFill>
            <a:schemeClr val="bg2"/>
          </a:solidFill>
          <a:ln/>
        </p:spPr>
      </p:sp>
      <p:sp>
        <p:nvSpPr>
          <p:cNvPr id="14" name="Step icon 3 circle"/>
          <p:cNvSpPr/>
          <p:nvPr/>
        </p:nvSpPr>
        <p:spPr>
          <a:xfrm>
            <a:off x="4846320" y="1508760"/>
            <a:ext cx="548640" cy="548640"/>
          </a:xfrm>
          <a:prstGeom prst="ellipse">
            <a:avLst/>
          </a:prstGeom>
          <a:solidFill>
            <a:schemeClr val="tx2"/>
          </a:solidFill>
          <a:ln/>
        </p:spPr>
      </p:sp>
      <p:pic>
        <p:nvPicPr>
          <p:cNvPr id="15" name="Image 2" descr="Step icon 3">    </p:cNvPr>
          <p:cNvPicPr>
            <a:picLocks noChangeAspect="1"/>
          </p:cNvPicPr>
          <p:nvPr/>
        </p:nvPicPr>
        <p:blipFill>
          <a:blip r:embed="rId3"/>
          <a:stretch>
            <a:fillRect/>
          </a:stretch>
        </p:blipFill>
        <p:spPr>
          <a:xfrm>
            <a:off x="4983480" y="1645920"/>
            <a:ext cx="274320" cy="274320"/>
          </a:xfrm>
          <a:prstGeom prst="rect">
            <a:avLst/>
          </a:prstGeom>
        </p:spPr>
      </p:pic>
      <p:sp>
        <p:nvSpPr>
          <p:cNvPr id="16" name="Step head 3"/>
          <p:cNvSpPr txBox="1"/>
          <p:nvPr/>
        </p:nvSpPr>
        <p:spPr>
          <a:xfrm>
            <a:off x="4846320" y="2212848"/>
            <a:ext cx="1554480" cy="320040"/>
          </a:xfrm>
          <a:prstGeom prst="rect">
            <a:avLst/>
          </a:prstGeom>
          <a:noFill/>
          <a:ln/>
        </p:spPr>
        <p:txBody>
          <a:bodyPr wrap="square" lIns="0" tIns="0" rIns="0" bIns="0" rtlCol="0" anchor="t"/>
          <a:lstStyle/>
          <a:p>
            <a:pPr indent="0" marL="0">
              <a:buNone/>
            </a:pPr>
            <a:r>
              <a:rPr lang="en-US" sz="1800" b="1" dirty="0">
                <a:solidFill>
                  <a:schemeClr val="tx2"/>
                </a:solidFill>
              </a:rPr>
              <a:t>3  Measure</a:t>
            </a:r>
            <a:endParaRPr lang="en-US" sz="1800" dirty="0"/>
          </a:p>
        </p:txBody>
      </p:sp>
      <p:sp>
        <p:nvSpPr>
          <p:cNvPr id="17" name="Step text 3"/>
          <p:cNvSpPr txBox="1"/>
          <p:nvPr/>
        </p:nvSpPr>
        <p:spPr>
          <a:xfrm>
            <a:off x="4846320" y="2578608"/>
            <a:ext cx="1554480" cy="1005840"/>
          </a:xfrm>
          <a:prstGeom prst="rect">
            <a:avLst/>
          </a:prstGeom>
          <a:noFill/>
          <a:ln/>
        </p:spPr>
        <p:txBody>
          <a:bodyPr wrap="square" lIns="0" tIns="0" rIns="0" bIns="0" rtlCol="0" anchor="t"/>
          <a:lstStyle/>
          <a:p>
            <a:pPr indent="0" marL="0">
              <a:buNone/>
            </a:pPr>
            <a:r>
              <a:rPr lang="en-US" sz="1300" dirty="0">
                <a:solidFill>
                  <a:schemeClr val="tx1"/>
                </a:solidFill>
              </a:rPr>
              <a:t>ESP8266 at 80 and 160 MHz, cloud Graviton2, laptop. Median of 100 runs.</a:t>
            </a:r>
            <a:endParaRPr lang="en-US" sz="1300" dirty="0"/>
          </a:p>
        </p:txBody>
      </p:sp>
      <p:sp>
        <p:nvSpPr>
          <p:cNvPr id="18" name="Step card 4"/>
          <p:cNvSpPr/>
          <p:nvPr/>
        </p:nvSpPr>
        <p:spPr>
          <a:xfrm>
            <a:off x="6766560" y="1325880"/>
            <a:ext cx="1920240" cy="2331720"/>
          </a:xfrm>
          <a:prstGeom prst="roundRect">
            <a:avLst>
              <a:gd name="adj" fmla="val 3810"/>
            </a:avLst>
          </a:prstGeom>
          <a:solidFill>
            <a:schemeClr val="bg2"/>
          </a:solidFill>
          <a:ln/>
        </p:spPr>
      </p:sp>
      <p:sp>
        <p:nvSpPr>
          <p:cNvPr id="19" name="Step icon 4 circle"/>
          <p:cNvSpPr/>
          <p:nvPr/>
        </p:nvSpPr>
        <p:spPr>
          <a:xfrm>
            <a:off x="6949440" y="1508760"/>
            <a:ext cx="548640" cy="548640"/>
          </a:xfrm>
          <a:prstGeom prst="ellipse">
            <a:avLst/>
          </a:prstGeom>
          <a:solidFill>
            <a:schemeClr val="tx2"/>
          </a:solidFill>
          <a:ln/>
        </p:spPr>
      </p:sp>
      <p:pic>
        <p:nvPicPr>
          <p:cNvPr id="20" name="Image 3" descr="Step icon 4">    </p:cNvPr>
          <p:cNvPicPr>
            <a:picLocks noChangeAspect="1"/>
          </p:cNvPicPr>
          <p:nvPr/>
        </p:nvPicPr>
        <p:blipFill>
          <a:blip r:embed="rId4"/>
          <a:stretch>
            <a:fillRect/>
          </a:stretch>
        </p:blipFill>
        <p:spPr>
          <a:xfrm>
            <a:off x="7086600" y="1645920"/>
            <a:ext cx="274320" cy="274320"/>
          </a:xfrm>
          <a:prstGeom prst="rect">
            <a:avLst/>
          </a:prstGeom>
        </p:spPr>
      </p:pic>
      <p:sp>
        <p:nvSpPr>
          <p:cNvPr id="21" name="Step head 4"/>
          <p:cNvSpPr txBox="1"/>
          <p:nvPr/>
        </p:nvSpPr>
        <p:spPr>
          <a:xfrm>
            <a:off x="6949440" y="2212848"/>
            <a:ext cx="1554480" cy="320040"/>
          </a:xfrm>
          <a:prstGeom prst="rect">
            <a:avLst/>
          </a:prstGeom>
          <a:noFill/>
          <a:ln/>
        </p:spPr>
        <p:txBody>
          <a:bodyPr wrap="square" lIns="0" tIns="0" rIns="0" bIns="0" rtlCol="0" anchor="t"/>
          <a:lstStyle/>
          <a:p>
            <a:pPr indent="0" marL="0">
              <a:buNone/>
            </a:pPr>
            <a:r>
              <a:rPr lang="en-US" sz="1800" b="1" dirty="0">
                <a:solidFill>
                  <a:schemeClr val="tx2"/>
                </a:solidFill>
              </a:rPr>
              <a:t>4  Recompute</a:t>
            </a:r>
            <a:endParaRPr lang="en-US" sz="1800" dirty="0"/>
          </a:p>
        </p:txBody>
      </p:sp>
      <p:sp>
        <p:nvSpPr>
          <p:cNvPr id="22" name="Step text 4"/>
          <p:cNvSpPr txBox="1"/>
          <p:nvPr/>
        </p:nvSpPr>
        <p:spPr>
          <a:xfrm>
            <a:off x="6949440" y="2578608"/>
            <a:ext cx="1554480" cy="1005840"/>
          </a:xfrm>
          <a:prstGeom prst="rect">
            <a:avLst/>
          </a:prstGeom>
          <a:noFill/>
          <a:ln/>
        </p:spPr>
        <p:txBody>
          <a:bodyPr wrap="square" lIns="0" tIns="0" rIns="0" bIns="0" rtlCol="0" anchor="t"/>
          <a:lstStyle/>
          <a:p>
            <a:pPr indent="0" marL="0">
              <a:buNone/>
            </a:pPr>
            <a:r>
              <a:rPr lang="en-US" sz="1300" dirty="0">
                <a:solidFill>
                  <a:schemeClr val="tx1"/>
                </a:solidFill>
              </a:rPr>
              <a:t>Re-ran the paper's own cost model with measured prices.</a:t>
            </a:r>
            <a:endParaRPr lang="en-US" sz="1300" dirty="0"/>
          </a:p>
        </p:txBody>
      </p:sp>
      <p:sp>
        <p:nvSpPr>
          <p:cNvPr id="23" name="Evidence strip"/>
          <p:cNvSpPr/>
          <p:nvPr/>
        </p:nvSpPr>
        <p:spPr>
          <a:xfrm>
            <a:off x="457200" y="3840480"/>
            <a:ext cx="8229600" cy="685800"/>
          </a:xfrm>
          <a:prstGeom prst="roundRect">
            <a:avLst>
              <a:gd name="adj" fmla="val 10667"/>
            </a:avLst>
          </a:prstGeom>
          <a:solidFill>
            <a:schemeClr val="accent3">
              <a:alpha val="12000"/>
            </a:schemeClr>
          </a:solidFill>
          <a:ln/>
        </p:spPr>
      </p:sp>
      <p:sp>
        <p:nvSpPr>
          <p:cNvPr id="24" name="Evidence text"/>
          <p:cNvSpPr txBox="1"/>
          <p:nvPr/>
        </p:nvSpPr>
        <p:spPr>
          <a:xfrm>
            <a:off x="685800" y="3840480"/>
            <a:ext cx="7772400" cy="685800"/>
          </a:xfrm>
          <a:prstGeom prst="rect">
            <a:avLst/>
          </a:prstGeom>
          <a:noFill/>
          <a:ln/>
        </p:spPr>
        <p:txBody>
          <a:bodyPr wrap="square" lIns="0" tIns="0" rIns="0" bIns="0" rtlCol="0" anchor="ctr"/>
          <a:lstStyle/>
          <a:p>
            <a:pPr indent="0" marL="0">
              <a:buNone/>
            </a:pPr>
            <a:r>
              <a:rPr lang="en-US" sz="1400" b="1" dirty="0">
                <a:solidFill>
                  <a:schemeClr val="tx1"/>
                </a:solidFill>
              </a:rPr>
              <a:t>108 tests pass.  </a:t>
            </a:r>
            <a:pPr indent="0" marL="0">
              <a:buNone/>
            </a:pPr>
            <a:r>
              <a:rPr lang="en-US" sz="1400" dirty="0">
                <a:solidFill>
                  <a:schemeClr val="tx1"/>
                </a:solidFill>
              </a:rPr>
              <a:t>The C device on the ESP8266 and the Python server complete 20 of 20 handshakes with identical session keys; replays are rejected.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000" b="1" dirty="0">
                <a:solidFill>
                  <a:schemeClr val="tx2"/>
                </a:solidFill>
              </a:rPr>
              <a:t>Finding 1: numbers don't reproduce</a:t>
            </a:r>
            <a:endParaRPr lang="en-US" sz="3000" dirty="0"/>
          </a:p>
        </p:txBody>
      </p:sp>
      <p:sp>
        <p:nvSpPr>
          <p:cNvPr id="3" name="Stat panel"/>
          <p:cNvSpPr/>
          <p:nvPr/>
        </p:nvSpPr>
        <p:spPr>
          <a:xfrm>
            <a:off x="457200" y="1325880"/>
            <a:ext cx="3017520" cy="3200400"/>
          </a:xfrm>
          <a:prstGeom prst="roundRect">
            <a:avLst>
              <a:gd name="adj" fmla="val 2424"/>
            </a:avLst>
          </a:prstGeom>
          <a:solidFill>
            <a:schemeClr val="bg2"/>
          </a:solidFill>
          <a:ln/>
        </p:spPr>
      </p:sp>
      <p:sp>
        <p:nvSpPr>
          <p:cNvPr id="4" name="Stat number"/>
          <p:cNvSpPr txBox="1"/>
          <p:nvPr/>
        </p:nvSpPr>
        <p:spPr>
          <a:xfrm>
            <a:off x="640080" y="1600200"/>
            <a:ext cx="2651760" cy="86868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0 of 9</a:t>
            </a:r>
            <a:endParaRPr lang="en-US" sz="4800" dirty="0"/>
          </a:p>
        </p:txBody>
      </p:sp>
      <p:sp>
        <p:nvSpPr>
          <p:cNvPr id="5" name="Stat text"/>
          <p:cNvSpPr txBox="1"/>
          <p:nvPr/>
        </p:nvSpPr>
        <p:spPr>
          <a:xfrm>
            <a:off x="640080" y="2560320"/>
            <a:ext cx="2651760" cy="1463040"/>
          </a:xfrm>
          <a:prstGeom prst="rect">
            <a:avLst/>
          </a:prstGeom>
          <a:noFill/>
          <a:ln/>
        </p:spPr>
        <p:txBody>
          <a:bodyPr wrap="square" lIns="0" tIns="0" rIns="0" bIns="0" rtlCol="0" anchor="t"/>
          <a:lstStyle/>
          <a:p>
            <a:pPr indent="0" marL="0">
              <a:buNone/>
            </a:pPr>
            <a:r>
              <a:rPr lang="en-US" sz="1600" dirty="0">
                <a:solidFill>
                  <a:schemeClr val="tx1"/>
                </a:solidFill>
              </a:rPr>
              <a:t>ways of computing 17 / 21 / 12 % from the paper's own tables give those values.</a:t>
            </a:r>
            <a:endParaRPr lang="en-US" sz="1600" dirty="0"/>
          </a:p>
        </p:txBody>
      </p:sp>
      <p:graphicFrame>
        <p:nvGraphicFramePr>
          <p:cNvPr id="7" name="Contradiction table"/>
          <p:cNvGraphicFramePr>
            <a:graphicFrameLocks noGrp="1"/>
          </p:cNvGraphicFramePr>
          <p:nvPr>
            <p:extLst>
              <p:ext uri="{D42A27DB-BD31-4B8C-83A1-F6EECF244321}">
                <p14:modId xmlns:p14="http://schemas.microsoft.com/office/powerpoint/2010/main" val="1579011935"/>
              </p:ext>
            </p:extLst>
          </p:nvPr>
        </p:nvGraphicFramePr>
        <p:xfrm>
          <a:off x="3749040" y="1325880"/>
          <a:ext cx="4937760" cy="914400"/>
        </p:xfrm>
        <a:graphic>
          <a:graphicData uri="http://schemas.openxmlformats.org/drawingml/2006/table">
            <a:tbl>
              <a:tblPr/>
              <a:tblGrid>
                <a:gridCol w="2194560"/>
                <a:gridCol w="1371600"/>
                <a:gridCol w="1371600"/>
              </a:tblGrid>
              <a:tr h="411480">
                <a:tc>
                  <a:txBody>
                    <a:bodyPr/>
                    <a:lstStyle/>
                    <a:p>
                      <a:pPr indent="0" marL="0">
                        <a:buNone/>
                      </a:pPr>
                      <a:r>
                        <a:rPr lang="en-US" sz="1300" b="1" dirty="0">
                          <a:solidFill>
                            <a:srgbClr val="FFFFFF"/>
                          </a:solidFill>
                        </a:rPr>
                        <a:t>What is reported</a:t>
                      </a:r>
                      <a:endParaRPr lang="en-US" sz="13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rPr>
                        <a:t>Table IV</a:t>
                      </a:r>
                      <a:endParaRPr lang="en-US" sz="13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rPr>
                        <a:t>Text</a:t>
                      </a:r>
                      <a:endParaRPr lang="en-US" sz="13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F3A5F"/>
                    </a:solidFill>
                  </a:tcPr>
                </a:tc>
              </a:tr>
              <a:tr h="411480">
                <a:tc>
                  <a:txBody>
                    <a:bodyPr/>
                    <a:lstStyle/>
                    <a:p>
                      <a:pPr indent="0" marL="0">
                        <a:buNone/>
                      </a:pPr>
                      <a:r>
                        <a:rPr lang="en-US" sz="1400" dirty="0">
                          <a:solidFill>
                            <a:srgbClr val="1B1F2A"/>
                          </a:solidFill>
                        </a:rPr>
                        <a:t>Messages</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b="1" dirty="0">
                          <a:solidFill>
                            <a:srgbClr val="C0452F"/>
                          </a:solidFill>
                        </a:rPr>
                        <a:t>4</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b="1" dirty="0">
                          <a:solidFill>
                            <a:srgbClr val="C0452F"/>
                          </a:solidFill>
                        </a:rPr>
                        <a:t>2</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11480">
                <a:tc>
                  <a:txBody>
                    <a:bodyPr/>
                    <a:lstStyle/>
                    <a:p>
                      <a:pPr indent="0" marL="0">
                        <a:buNone/>
                      </a:pPr>
                      <a:r>
                        <a:rPr lang="en-US" sz="1400" dirty="0">
                          <a:solidFill>
                            <a:srgbClr val="1B1F2A"/>
                          </a:solidFill>
                        </a:rPr>
                        <a:t>Bits</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b="1" dirty="0">
                          <a:solidFill>
                            <a:srgbClr val="C0452F"/>
                          </a:solidFill>
                        </a:rPr>
                        <a:t>1,024</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b="1" dirty="0">
                          <a:solidFill>
                            <a:srgbClr val="C0452F"/>
                          </a:solidFill>
                        </a:rPr>
                        <a:t>264</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bl>
          </a:graphicData>
        </a:graphic>
      </p:graphicFrame>
      <p:sp>
        <p:nvSpPr>
          <p:cNvPr id="7" name="Finding bullets"/>
          <p:cNvSpPr txBox="1"/>
          <p:nvPr/>
        </p:nvSpPr>
        <p:spPr>
          <a:xfrm>
            <a:off x="3749040" y="2971800"/>
            <a:ext cx="49377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Fig. 1 is captioned “processing”, but its axis shows communication overhead.</a:t>
            </a:r>
            <a:endParaRPr lang="en-US" sz="1400" dirty="0"/>
          </a:p>
          <a:p>
            <a:pPr marL="342900" indent="-342900">
              <a:spcAft>
                <a:spcPts val="600"/>
              </a:spcAft>
              <a:buSzPct val="100000"/>
              <a:buChar char="•"/>
            </a:pPr>
            <a:r>
              <a:rPr lang="en-US" sz="1400" dirty="0">
                <a:solidFill>
                  <a:schemeClr val="tx1"/>
                </a:solidFill>
              </a:rPr>
              <a:t>One competitor row has its device and server counts swapped.</a:t>
            </a:r>
            <a:endParaRPr lang="en-US" sz="1400" dirty="0"/>
          </a:p>
          <a:p>
            <a:pPr marL="342900" indent="-342900">
              <a:buSzPct val="100000"/>
              <a:buChar char="•"/>
            </a:pPr>
            <a:r>
              <a:rPr lang="en-US" sz="1400" dirty="0">
                <a:solidFill>
                  <a:schemeClr val="tx1"/>
                </a:solidFill>
              </a:rPr>
              <a:t>The simulation cannot be re-run, so Fig. 1 cannot be checked.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000" b="1" dirty="0">
                <a:solidFill>
                  <a:schemeClr val="tx2"/>
                </a:solidFill>
              </a:rPr>
              <a:t>Finding 2: the assumed prices are wrong</a:t>
            </a:r>
            <a:endParaRPr lang="en-US" sz="3000" dirty="0"/>
          </a:p>
        </p:txBody>
      </p:sp>
      <p:graphicFrame>
        <p:nvGraphicFramePr>
          <p:cNvPr id="3" name="ECC ratio chart" descr=""/>
          <p:cNvGraphicFramePr/>
          <p:nvPr/>
        </p:nvGraphicFramePr>
        <p:xfrm>
          <a:off x="457200" y="1280160"/>
          <a:ext cx="384048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onstants table"/>
          <p:cNvGraphicFramePr>
            <a:graphicFrameLocks noGrp="1"/>
          </p:cNvGraphicFramePr>
          <p:nvPr>
            <p:extLst>
              <p:ext uri="{D42A27DB-BD31-4B8C-83A1-F6EECF244321}">
                <p14:modId xmlns:p14="http://schemas.microsoft.com/office/powerpoint/2010/main" val="1579011935"/>
              </p:ext>
            </p:extLst>
          </p:nvPr>
        </p:nvGraphicFramePr>
        <p:xfrm>
          <a:off x="4572000" y="1325880"/>
          <a:ext cx="4114800" cy="914400"/>
        </p:xfrm>
        <a:graphic>
          <a:graphicData uri="http://schemas.openxmlformats.org/drawingml/2006/table">
            <a:tbl>
              <a:tblPr/>
              <a:tblGrid>
                <a:gridCol w="960120"/>
                <a:gridCol w="914400"/>
                <a:gridCol w="1051560"/>
                <a:gridCol w="1188720"/>
              </a:tblGrid>
              <a:tr h="438912">
                <a:tc>
                  <a:txBody>
                    <a:bodyPr/>
                    <a:lstStyle/>
                    <a:p>
                      <a:pPr indent="0" marL="0">
                        <a:buNone/>
                      </a:pPr>
                      <a:r>
                        <a:rPr lang="en-US" sz="1300" b="1" dirty="0">
                          <a:solidFill>
                            <a:srgbClr val="FFFFFF"/>
                          </a:solidFill>
                        </a:rPr>
                        <a:t>Operation</a:t>
                      </a:r>
                      <a:endParaRPr lang="en-US" sz="13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rPr>
                        <a:t>Assumed</a:t>
                      </a:r>
                      <a:endParaRPr lang="en-US" sz="13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rPr>
                        <a:t>Measured</a:t>
                      </a:r>
                      <a:endParaRPr lang="en-US" sz="13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rPr>
                        <a:t>Off by</a:t>
                      </a:r>
                      <a:endParaRPr lang="en-US" sz="13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F3A5F"/>
                    </a:solidFill>
                  </a:tcPr>
                </a:tc>
              </a:tr>
              <a:tr h="438912">
                <a:tc>
                  <a:txBody>
                    <a:bodyPr/>
                    <a:lstStyle/>
                    <a:p>
                      <a:pPr indent="0" marL="0">
                        <a:buNone/>
                      </a:pPr>
                      <a:r>
                        <a:rPr lang="en-US" sz="1400" dirty="0">
                          <a:solidFill>
                            <a:srgbClr val="1B1F2A"/>
                          </a:solidFill>
                        </a:rPr>
                        <a:t>ECC P-256</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B1F2A"/>
                          </a:solidFill>
                        </a:rPr>
                        <a:t>17.1 ms</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B1F2A"/>
                          </a:solidFill>
                        </a:rPr>
                        <a:t>276 ms</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b="1" dirty="0">
                          <a:solidFill>
                            <a:srgbClr val="C0452F"/>
                          </a:solidFill>
                        </a:rPr>
                        <a:t>16× slower</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38912">
                <a:tc>
                  <a:txBody>
                    <a:bodyPr/>
                    <a:lstStyle/>
                    <a:p>
                      <a:pPr indent="0" marL="0">
                        <a:buNone/>
                      </a:pPr>
                      <a:r>
                        <a:rPr lang="en-US" sz="1400" dirty="0">
                          <a:solidFill>
                            <a:srgbClr val="1B1F2A"/>
                          </a:solidFill>
                        </a:rPr>
                        <a:t>SHA-1</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B1F2A"/>
                          </a:solidFill>
                        </a:rPr>
                        <a:t>0.32 ms</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B1F2A"/>
                          </a:solidFill>
                        </a:rPr>
                        <a:t>0.036 ms</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b="1" dirty="0">
                          <a:solidFill>
                            <a:srgbClr val="2A7F62"/>
                          </a:solidFill>
                        </a:rPr>
                        <a:t>8.8× faster</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38912">
                <a:tc>
                  <a:txBody>
                    <a:bodyPr/>
                    <a:lstStyle/>
                    <a:p>
                      <a:pPr indent="0" marL="0">
                        <a:buNone/>
                      </a:pPr>
                      <a:r>
                        <a:rPr lang="en-US" sz="1400" dirty="0">
                          <a:solidFill>
                            <a:srgbClr val="1B1F2A"/>
                          </a:solidFill>
                        </a:rPr>
                        <a:t>AES-GCM</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B1F2A"/>
                          </a:solidFill>
                        </a:rPr>
                        <a:t>5.6 ms</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B1F2A"/>
                          </a:solidFill>
                        </a:rPr>
                        <a:t>0.5–1.2 ms</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400" b="1" dirty="0">
                          <a:solidFill>
                            <a:srgbClr val="2A7F62"/>
                          </a:solidFill>
                        </a:rPr>
                        <a:t>5–12× faster</a:t>
                      </a:r>
                      <a:endParaRPr lang="en-US" sz="1400" dirty="0"/>
                    </a:p>
                  </a:txBody>
                  <a:tcPr marL="91440" marR="91440" marT="45720" marB="4572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bl>
          </a:graphicData>
        </a:graphic>
      </p:graphicFrame>
      <p:sp>
        <p:nvSpPr>
          <p:cNvPr id="5" name="Constants note"/>
          <p:cNvSpPr txBox="1"/>
          <p:nvPr/>
        </p:nvSpPr>
        <p:spPr>
          <a:xfrm>
            <a:off x="4572000" y="3246120"/>
            <a:ext cx="4114800" cy="731520"/>
          </a:xfrm>
          <a:prstGeom prst="rect">
            <a:avLst/>
          </a:prstGeom>
          <a:noFill/>
          <a:ln/>
        </p:spPr>
        <p:txBody>
          <a:bodyPr wrap="square" lIns="0" tIns="0" rIns="0" bIns="0" rtlCol="0" anchor="t"/>
          <a:lstStyle/>
          <a:p>
            <a:pPr indent="0" marL="0">
              <a:buNone/>
            </a:pPr>
            <a:r>
              <a:rPr lang="en-US" sz="1200" dirty="0">
                <a:solidFill>
                  <a:schemeClr val="accent4"/>
                </a:solidFill>
              </a:rPr>
              <a:t>Same C source on every platform; ratios are identical at 80 and 160 MHz and on a second board. Medians of 100 runs.</a:t>
            </a:r>
            <a:endParaRPr lang="en-US" sz="1200" dirty="0"/>
          </a:p>
        </p:txBody>
      </p:sp>
      <p:sp>
        <p:nvSpPr>
          <p:cNvPr id="6" name="Constants takeaway"/>
          <p:cNvSpPr txBox="1"/>
          <p:nvPr/>
        </p:nvSpPr>
        <p:spPr>
          <a:xfrm>
            <a:off x="4572000" y="3886200"/>
            <a:ext cx="4114800" cy="640080"/>
          </a:xfrm>
          <a:prstGeom prst="rect">
            <a:avLst/>
          </a:prstGeom>
          <a:noFill/>
          <a:ln/>
        </p:spPr>
        <p:txBody>
          <a:bodyPr wrap="square" lIns="0" tIns="0" rIns="0" bIns="0" rtlCol="0" anchor="t"/>
          <a:lstStyle/>
          <a:p>
            <a:pPr indent="0" marL="0">
              <a:buNone/>
            </a:pPr>
            <a:r>
              <a:rPr lang="en-US" sz="1400" b="1" dirty="0">
                <a:solidFill>
                  <a:schemeClr val="tx2"/>
                </a:solidFill>
              </a:rPr>
              <a:t>ECC is far costlier, and symmetric crypto far cheaper, than the paper's cost model assumes.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000" b="1" dirty="0">
                <a:solidFill>
                  <a:schemeClr val="tx2"/>
                </a:solidFill>
              </a:rPr>
              <a:t>Finding 3: the ranking cuts both ways</a:t>
            </a:r>
            <a:endParaRPr lang="en-US" sz="3000" dirty="0"/>
          </a:p>
        </p:txBody>
      </p:sp>
      <p:sp>
        <p:nvSpPr>
          <p:cNvPr id="3" name="Good panel"/>
          <p:cNvSpPr/>
          <p:nvPr/>
        </p:nvSpPr>
        <p:spPr>
          <a:xfrm>
            <a:off x="457200" y="1325880"/>
            <a:ext cx="3977640" cy="2240280"/>
          </a:xfrm>
          <a:prstGeom prst="roundRect">
            <a:avLst>
              <a:gd name="adj" fmla="val 3265"/>
            </a:avLst>
          </a:prstGeom>
          <a:solidFill>
            <a:schemeClr val="bg2"/>
          </a:solidFill>
          <a:ln/>
        </p:spPr>
      </p:sp>
      <p:sp>
        <p:nvSpPr>
          <p:cNvPr id="4" name="Good head"/>
          <p:cNvSpPr txBox="1"/>
          <p:nvPr/>
        </p:nvSpPr>
        <p:spPr>
          <a:xfrm>
            <a:off x="685800" y="1463040"/>
            <a:ext cx="3566160" cy="320040"/>
          </a:xfrm>
          <a:prstGeom prst="rect">
            <a:avLst/>
          </a:prstGeom>
          <a:noFill/>
          <a:ln/>
        </p:spPr>
        <p:txBody>
          <a:bodyPr wrap="square" lIns="0" tIns="0" rIns="0" bIns="0" rtlCol="0" anchor="t"/>
          <a:lstStyle/>
          <a:p>
            <a:pPr indent="0" marL="0">
              <a:buNone/>
            </a:pPr>
            <a:r>
              <a:rPr lang="en-US" sz="1500" dirty="0">
                <a:solidFill>
                  <a:schemeClr val="accent4"/>
                </a:solidFill>
              </a:rPr>
              <a:t>Versus ECC-based schemes</a:t>
            </a:r>
            <a:endParaRPr lang="en-US" sz="1500" dirty="0"/>
          </a:p>
        </p:txBody>
      </p:sp>
      <p:sp>
        <p:nvSpPr>
          <p:cNvPr id="5" name="Good number"/>
          <p:cNvSpPr txBox="1"/>
          <p:nvPr/>
        </p:nvSpPr>
        <p:spPr>
          <a:xfrm>
            <a:off x="685800" y="1828800"/>
            <a:ext cx="3566160" cy="82296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60–2,520×</a:t>
            </a:r>
            <a:endParaRPr lang="en-US" sz="4000" dirty="0"/>
          </a:p>
        </p:txBody>
      </p:sp>
      <p:sp>
        <p:nvSpPr>
          <p:cNvPr id="6" name="Good text"/>
          <p:cNvSpPr txBox="1"/>
          <p:nvPr/>
        </p:nvSpPr>
        <p:spPr>
          <a:xfrm>
            <a:off x="685800" y="2697480"/>
            <a:ext cx="3566160" cy="731520"/>
          </a:xfrm>
          <a:prstGeom prst="rect">
            <a:avLst/>
          </a:prstGeom>
          <a:noFill/>
          <a:ln/>
        </p:spPr>
        <p:txBody>
          <a:bodyPr wrap="square" lIns="0" tIns="0" rIns="0" bIns="0" rtlCol="0" anchor="t"/>
          <a:lstStyle/>
          <a:p>
            <a:pPr indent="0" marL="0">
              <a:buNone/>
            </a:pPr>
            <a:r>
              <a:rPr lang="en-US" sz="1400" dirty="0">
                <a:solidFill>
                  <a:schemeClr val="tx1"/>
                </a:solidFill>
              </a:rPr>
              <a:t>cheaper than the paper claims. The scheme wins, by far more than reported.</a:t>
            </a:r>
            <a:endParaRPr lang="en-US" sz="1400" dirty="0"/>
          </a:p>
        </p:txBody>
      </p:sp>
      <p:sp>
        <p:nvSpPr>
          <p:cNvPr id="7" name="Bad panel"/>
          <p:cNvSpPr/>
          <p:nvPr/>
        </p:nvSpPr>
        <p:spPr>
          <a:xfrm>
            <a:off x="4709160" y="1325880"/>
            <a:ext cx="3977640" cy="2240280"/>
          </a:xfrm>
          <a:prstGeom prst="roundRect">
            <a:avLst>
              <a:gd name="adj" fmla="val 3265"/>
            </a:avLst>
          </a:prstGeom>
          <a:solidFill>
            <a:schemeClr val="bg2"/>
          </a:solidFill>
          <a:ln/>
        </p:spPr>
      </p:sp>
      <p:sp>
        <p:nvSpPr>
          <p:cNvPr id="8" name="Bad head"/>
          <p:cNvSpPr txBox="1"/>
          <p:nvPr/>
        </p:nvSpPr>
        <p:spPr>
          <a:xfrm>
            <a:off x="4937760" y="1463040"/>
            <a:ext cx="3566160" cy="320040"/>
          </a:xfrm>
          <a:prstGeom prst="rect">
            <a:avLst/>
          </a:prstGeom>
          <a:noFill/>
          <a:ln/>
        </p:spPr>
        <p:txBody>
          <a:bodyPr wrap="square" lIns="0" tIns="0" rIns="0" bIns="0" rtlCol="0" anchor="t"/>
          <a:lstStyle/>
          <a:p>
            <a:pPr indent="0" marL="0">
              <a:buNone/>
            </a:pPr>
            <a:r>
              <a:rPr lang="en-US" sz="1500" dirty="0">
                <a:solidFill>
                  <a:schemeClr val="accent4"/>
                </a:solidFill>
              </a:rPr>
              <a:t>Versus hash-only schemes</a:t>
            </a:r>
            <a:endParaRPr lang="en-US" sz="1500" dirty="0"/>
          </a:p>
        </p:txBody>
      </p:sp>
      <p:sp>
        <p:nvSpPr>
          <p:cNvPr id="9" name="Bad number"/>
          <p:cNvSpPr txBox="1"/>
          <p:nvPr/>
        </p:nvSpPr>
        <p:spPr>
          <a:xfrm>
            <a:off x="4937760" y="1828800"/>
            <a:ext cx="356616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3.8–13.7×</a:t>
            </a:r>
            <a:endParaRPr lang="en-US" sz="4000" dirty="0"/>
          </a:p>
        </p:txBody>
      </p:sp>
      <p:sp>
        <p:nvSpPr>
          <p:cNvPr id="10" name="Bad text"/>
          <p:cNvSpPr txBox="1"/>
          <p:nvPr/>
        </p:nvSpPr>
        <p:spPr>
          <a:xfrm>
            <a:off x="4937760" y="2697480"/>
            <a:ext cx="3566160" cy="731520"/>
          </a:xfrm>
          <a:prstGeom prst="rect">
            <a:avLst/>
          </a:prstGeom>
          <a:noFill/>
          <a:ln/>
        </p:spPr>
        <p:txBody>
          <a:bodyPr wrap="square" lIns="0" tIns="0" rIns="0" bIns="0" rtlCol="0" anchor="t"/>
          <a:lstStyle/>
          <a:p>
            <a:pPr indent="0" marL="0">
              <a:buNone/>
            </a:pPr>
            <a:r>
              <a:rPr lang="en-US" sz="1400" dirty="0">
                <a:solidFill>
                  <a:schemeClr val="tx1"/>
                </a:solidFill>
              </a:rPr>
              <a:t>more expensive, once the session-key derivation is counted. The paper says the opposite.</a:t>
            </a:r>
            <a:endParaRPr lang="en-US" sz="1400" dirty="0"/>
          </a:p>
        </p:txBody>
      </p:sp>
      <p:sp>
        <p:nvSpPr>
          <p:cNvPr id="11" name="Ranking why"/>
          <p:cNvSpPr txBox="1"/>
          <p:nvPr/>
        </p:nvSpPr>
        <p:spPr>
          <a:xfrm>
            <a:off x="457200" y="3794760"/>
            <a:ext cx="8229600" cy="731520"/>
          </a:xfrm>
          <a:prstGeom prst="rect">
            <a:avLst/>
          </a:prstGeom>
          <a:noFill/>
          <a:ln/>
        </p:spPr>
        <p:txBody>
          <a:bodyPr wrap="square" lIns="0" tIns="0" rIns="0" bIns="0" rtlCol="0" anchor="t"/>
          <a:lstStyle/>
          <a:p>
            <a:pPr indent="0" marL="0">
              <a:buNone/>
            </a:pPr>
            <a:r>
              <a:rPr lang="en-US" sz="1500" b="1" dirty="0">
                <a:solidFill>
                  <a:schemeClr val="tx2"/>
                </a:solidFill>
              </a:rPr>
              <a:t>Why: </a:t>
            </a:r>
            <a:pPr indent="0" marL="0">
              <a:buNone/>
            </a:pPr>
            <a:r>
              <a:rPr lang="en-US" sz="1500" dirty="0">
                <a:solidFill>
                  <a:schemeClr val="tx1"/>
                </a:solidFill>
              </a:rPr>
              <a:t>the paper's own Eq. 16 needs a key-derivation step (HKDF, 629 µs, about 17 hashes) that its cost table leaves out.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000" b="1" dirty="0">
                <a:solidFill>
                  <a:schemeClr val="tx2"/>
                </a:solidFill>
              </a:rPr>
              <a:t>Finding 4: no forward secrecy</a:t>
            </a:r>
            <a:endParaRPr lang="en-US" sz="3000" dirty="0"/>
          </a:p>
        </p:txBody>
      </p:sp>
      <p:sp>
        <p:nvSpPr>
          <p:cNvPr id="3" name="FS card 1"/>
          <p:cNvSpPr/>
          <p:nvPr/>
        </p:nvSpPr>
        <p:spPr>
          <a:xfrm>
            <a:off x="457200" y="1371600"/>
            <a:ext cx="2468880" cy="1920240"/>
          </a:xfrm>
          <a:prstGeom prst="roundRect">
            <a:avLst>
              <a:gd name="adj" fmla="val 3810"/>
            </a:avLst>
          </a:prstGeom>
          <a:solidFill>
            <a:schemeClr val="bg2"/>
          </a:solidFill>
          <a:ln/>
        </p:spPr>
      </p:sp>
      <p:sp>
        <p:nvSpPr>
          <p:cNvPr id="4" name="FS icon 1 circle"/>
          <p:cNvSpPr/>
          <p:nvPr/>
        </p:nvSpPr>
        <p:spPr>
          <a:xfrm>
            <a:off x="685800" y="1554480"/>
            <a:ext cx="548640" cy="548640"/>
          </a:xfrm>
          <a:prstGeom prst="ellipse">
            <a:avLst/>
          </a:prstGeom>
          <a:solidFill>
            <a:schemeClr val="tx2"/>
          </a:solidFill>
          <a:ln/>
        </p:spPr>
      </p:sp>
      <p:pic>
        <p:nvPicPr>
          <p:cNvPr id="5" name="Image 0" descr="FS icon 1">    </p:cNvPr>
          <p:cNvPicPr>
            <a:picLocks noChangeAspect="1"/>
          </p:cNvPicPr>
          <p:nvPr/>
        </p:nvPicPr>
        <p:blipFill>
          <a:blip r:embed="rId1"/>
          <a:stretch>
            <a:fillRect/>
          </a:stretch>
        </p:blipFill>
        <p:spPr>
          <a:xfrm>
            <a:off x="822960" y="1691640"/>
            <a:ext cx="274320" cy="274320"/>
          </a:xfrm>
          <a:prstGeom prst="rect">
            <a:avLst/>
          </a:prstGeom>
        </p:spPr>
      </p:pic>
      <p:sp>
        <p:nvSpPr>
          <p:cNvPr id="6" name="FS head 1"/>
          <p:cNvSpPr txBox="1"/>
          <p:nvPr/>
        </p:nvSpPr>
        <p:spPr>
          <a:xfrm>
            <a:off x="685800" y="2194560"/>
            <a:ext cx="2103120" cy="320040"/>
          </a:xfrm>
          <a:prstGeom prst="rect">
            <a:avLst/>
          </a:prstGeom>
          <a:noFill/>
          <a:ln/>
        </p:spPr>
        <p:txBody>
          <a:bodyPr wrap="square" lIns="0" tIns="0" rIns="0" bIns="0" rtlCol="0" anchor="t"/>
          <a:lstStyle/>
          <a:p>
            <a:pPr indent="0" marL="0">
              <a:buNone/>
            </a:pPr>
            <a:r>
              <a:rPr lang="en-US" sz="1800" b="1" dirty="0">
                <a:solidFill>
                  <a:schemeClr val="tx2"/>
                </a:solidFill>
              </a:rPr>
              <a:t>1  Record</a:t>
            </a:r>
            <a:endParaRPr lang="en-US" sz="1800" dirty="0"/>
          </a:p>
        </p:txBody>
      </p:sp>
      <p:sp>
        <p:nvSpPr>
          <p:cNvPr id="7" name="FS text 1"/>
          <p:cNvSpPr txBox="1"/>
          <p:nvPr/>
        </p:nvSpPr>
        <p:spPr>
          <a:xfrm>
            <a:off x="685800" y="2560320"/>
            <a:ext cx="2103120" cy="640080"/>
          </a:xfrm>
          <a:prstGeom prst="rect">
            <a:avLst/>
          </a:prstGeom>
          <a:noFill/>
          <a:ln/>
        </p:spPr>
        <p:txBody>
          <a:bodyPr wrap="square" lIns="0" tIns="0" rIns="0" bIns="0" rtlCol="0" anchor="t"/>
          <a:lstStyle/>
          <a:p>
            <a:pPr indent="0" marL="0">
              <a:buNone/>
            </a:pPr>
            <a:r>
              <a:rPr lang="en-US" sz="1400" dirty="0">
                <a:solidFill>
                  <a:schemeClr val="tx1"/>
                </a:solidFill>
              </a:rPr>
              <a:t>An attacker saves encrypted sessions today.</a:t>
            </a:r>
            <a:endParaRPr lang="en-US" sz="1400" dirty="0"/>
          </a:p>
        </p:txBody>
      </p:sp>
      <p:sp>
        <p:nvSpPr>
          <p:cNvPr id="8" name="FS arrow 1"/>
          <p:cNvSpPr/>
          <p:nvPr/>
        </p:nvSpPr>
        <p:spPr>
          <a:xfrm>
            <a:off x="2999232" y="2331720"/>
            <a:ext cx="310896" cy="0"/>
          </a:xfrm>
          <a:prstGeom prst="line">
            <a:avLst/>
          </a:prstGeom>
          <a:noFill/>
          <a:ln w="25400">
            <a:solidFill>
              <a:srgbClr val="6B7486"/>
            </a:solidFill>
            <a:prstDash val="solid"/>
            <a:tailEnd type="triangle"/>
          </a:ln>
        </p:spPr>
      </p:sp>
      <p:sp>
        <p:nvSpPr>
          <p:cNvPr id="9" name="FS card 2"/>
          <p:cNvSpPr/>
          <p:nvPr/>
        </p:nvSpPr>
        <p:spPr>
          <a:xfrm>
            <a:off x="3383280" y="1371600"/>
            <a:ext cx="2468880" cy="1920240"/>
          </a:xfrm>
          <a:prstGeom prst="roundRect">
            <a:avLst>
              <a:gd name="adj" fmla="val 3810"/>
            </a:avLst>
          </a:prstGeom>
          <a:solidFill>
            <a:schemeClr val="bg2"/>
          </a:solidFill>
          <a:ln/>
        </p:spPr>
      </p:sp>
      <p:sp>
        <p:nvSpPr>
          <p:cNvPr id="10" name="FS icon 2 circle"/>
          <p:cNvSpPr/>
          <p:nvPr/>
        </p:nvSpPr>
        <p:spPr>
          <a:xfrm>
            <a:off x="3611880" y="1554480"/>
            <a:ext cx="548640" cy="548640"/>
          </a:xfrm>
          <a:prstGeom prst="ellipse">
            <a:avLst/>
          </a:prstGeom>
          <a:solidFill>
            <a:schemeClr val="tx2"/>
          </a:solidFill>
          <a:ln/>
        </p:spPr>
      </p:sp>
      <p:pic>
        <p:nvPicPr>
          <p:cNvPr id="11" name="Image 1" descr="FS icon 2">    </p:cNvPr>
          <p:cNvPicPr>
            <a:picLocks noChangeAspect="1"/>
          </p:cNvPicPr>
          <p:nvPr/>
        </p:nvPicPr>
        <p:blipFill>
          <a:blip r:embed="rId2"/>
          <a:stretch>
            <a:fillRect/>
          </a:stretch>
        </p:blipFill>
        <p:spPr>
          <a:xfrm>
            <a:off x="3749040" y="1691640"/>
            <a:ext cx="274320" cy="274320"/>
          </a:xfrm>
          <a:prstGeom prst="rect">
            <a:avLst/>
          </a:prstGeom>
        </p:spPr>
      </p:pic>
      <p:sp>
        <p:nvSpPr>
          <p:cNvPr id="12" name="FS head 2"/>
          <p:cNvSpPr txBox="1"/>
          <p:nvPr/>
        </p:nvSpPr>
        <p:spPr>
          <a:xfrm>
            <a:off x="3611880" y="2194560"/>
            <a:ext cx="2103120" cy="320040"/>
          </a:xfrm>
          <a:prstGeom prst="rect">
            <a:avLst/>
          </a:prstGeom>
          <a:noFill/>
          <a:ln/>
        </p:spPr>
        <p:txBody>
          <a:bodyPr wrap="square" lIns="0" tIns="0" rIns="0" bIns="0" rtlCol="0" anchor="t"/>
          <a:lstStyle/>
          <a:p>
            <a:pPr indent="0" marL="0">
              <a:buNone/>
            </a:pPr>
            <a:r>
              <a:rPr lang="en-US" sz="1800" b="1" dirty="0">
                <a:solidFill>
                  <a:schemeClr val="tx2"/>
                </a:solidFill>
              </a:rPr>
              <a:t>2  Steal</a:t>
            </a:r>
            <a:endParaRPr lang="en-US" sz="1800" dirty="0"/>
          </a:p>
        </p:txBody>
      </p:sp>
      <p:sp>
        <p:nvSpPr>
          <p:cNvPr id="13" name="FS text 2"/>
          <p:cNvSpPr txBox="1"/>
          <p:nvPr/>
        </p:nvSpPr>
        <p:spPr>
          <a:xfrm>
            <a:off x="3611880" y="2560320"/>
            <a:ext cx="2103120" cy="640080"/>
          </a:xfrm>
          <a:prstGeom prst="rect">
            <a:avLst/>
          </a:prstGeom>
          <a:noFill/>
          <a:ln/>
        </p:spPr>
        <p:txBody>
          <a:bodyPr wrap="square" lIns="0" tIns="0" rIns="0" bIns="0" rtlCol="0" anchor="t"/>
          <a:lstStyle/>
          <a:p>
            <a:pPr indent="0" marL="0">
              <a:buNone/>
            </a:pPr>
            <a:r>
              <a:rPr lang="en-US" sz="1400" dirty="0">
                <a:solidFill>
                  <a:schemeClr val="tx1"/>
                </a:solidFill>
              </a:rPr>
              <a:t>Later, the long-term secret k* leaks.</a:t>
            </a:r>
            <a:endParaRPr lang="en-US" sz="1400" dirty="0"/>
          </a:p>
        </p:txBody>
      </p:sp>
      <p:sp>
        <p:nvSpPr>
          <p:cNvPr id="14" name="FS arrow 2"/>
          <p:cNvSpPr/>
          <p:nvPr/>
        </p:nvSpPr>
        <p:spPr>
          <a:xfrm>
            <a:off x="5925312" y="2331720"/>
            <a:ext cx="310896" cy="0"/>
          </a:xfrm>
          <a:prstGeom prst="line">
            <a:avLst/>
          </a:prstGeom>
          <a:noFill/>
          <a:ln w="25400">
            <a:solidFill>
              <a:srgbClr val="6B7486"/>
            </a:solidFill>
            <a:prstDash val="solid"/>
            <a:tailEnd type="triangle"/>
          </a:ln>
        </p:spPr>
      </p:sp>
      <p:sp>
        <p:nvSpPr>
          <p:cNvPr id="15" name="FS card 3"/>
          <p:cNvSpPr/>
          <p:nvPr/>
        </p:nvSpPr>
        <p:spPr>
          <a:xfrm>
            <a:off x="6309360" y="1371600"/>
            <a:ext cx="2468880" cy="1920240"/>
          </a:xfrm>
          <a:prstGeom prst="roundRect">
            <a:avLst>
              <a:gd name="adj" fmla="val 3810"/>
            </a:avLst>
          </a:prstGeom>
          <a:solidFill>
            <a:schemeClr val="accent2">
              <a:alpha val="12000"/>
            </a:schemeClr>
          </a:solidFill>
          <a:ln/>
        </p:spPr>
      </p:sp>
      <p:sp>
        <p:nvSpPr>
          <p:cNvPr id="16" name="FS icon 3 circle"/>
          <p:cNvSpPr/>
          <p:nvPr/>
        </p:nvSpPr>
        <p:spPr>
          <a:xfrm>
            <a:off x="6537960" y="1554480"/>
            <a:ext cx="548640" cy="548640"/>
          </a:xfrm>
          <a:prstGeom prst="ellipse">
            <a:avLst/>
          </a:prstGeom>
          <a:solidFill>
            <a:schemeClr val="accent2"/>
          </a:solidFill>
          <a:ln/>
        </p:spPr>
      </p:sp>
      <p:pic>
        <p:nvPicPr>
          <p:cNvPr id="17" name="Image 2" descr="FS icon 3">    </p:cNvPr>
          <p:cNvPicPr>
            <a:picLocks noChangeAspect="1"/>
          </p:cNvPicPr>
          <p:nvPr/>
        </p:nvPicPr>
        <p:blipFill>
          <a:blip r:embed="rId3"/>
          <a:stretch>
            <a:fillRect/>
          </a:stretch>
        </p:blipFill>
        <p:spPr>
          <a:xfrm>
            <a:off x="6675120" y="1691640"/>
            <a:ext cx="274320" cy="274320"/>
          </a:xfrm>
          <a:prstGeom prst="rect">
            <a:avLst/>
          </a:prstGeom>
        </p:spPr>
      </p:pic>
      <p:sp>
        <p:nvSpPr>
          <p:cNvPr id="18" name="FS head 3"/>
          <p:cNvSpPr txBox="1"/>
          <p:nvPr/>
        </p:nvSpPr>
        <p:spPr>
          <a:xfrm>
            <a:off x="6537960" y="2194560"/>
            <a:ext cx="2103120" cy="320040"/>
          </a:xfrm>
          <a:prstGeom prst="rect">
            <a:avLst/>
          </a:prstGeom>
          <a:noFill/>
          <a:ln/>
        </p:spPr>
        <p:txBody>
          <a:bodyPr wrap="square" lIns="0" tIns="0" rIns="0" bIns="0" rtlCol="0" anchor="t"/>
          <a:lstStyle/>
          <a:p>
            <a:pPr indent="0" marL="0">
              <a:buNone/>
            </a:pPr>
            <a:r>
              <a:rPr lang="en-US" sz="1800" b="1" dirty="0">
                <a:solidFill>
                  <a:schemeClr val="tx2"/>
                </a:solidFill>
              </a:rPr>
              <a:t>3  Decrypt</a:t>
            </a:r>
            <a:endParaRPr lang="en-US" sz="1800" dirty="0"/>
          </a:p>
        </p:txBody>
      </p:sp>
      <p:sp>
        <p:nvSpPr>
          <p:cNvPr id="19" name="FS text 3"/>
          <p:cNvSpPr txBox="1"/>
          <p:nvPr/>
        </p:nvSpPr>
        <p:spPr>
          <a:xfrm>
            <a:off x="6537960" y="2560320"/>
            <a:ext cx="2103120" cy="640080"/>
          </a:xfrm>
          <a:prstGeom prst="rect">
            <a:avLst/>
          </a:prstGeom>
          <a:noFill/>
          <a:ln/>
        </p:spPr>
        <p:txBody>
          <a:bodyPr wrap="square" lIns="0" tIns="0" rIns="0" bIns="0" rtlCol="0" anchor="t"/>
          <a:lstStyle/>
          <a:p>
            <a:pPr indent="0" marL="0">
              <a:buNone/>
            </a:pPr>
            <a:r>
              <a:rPr lang="en-US" sz="1400" dirty="0">
                <a:solidFill>
                  <a:schemeClr val="tx1"/>
                </a:solidFill>
              </a:rPr>
              <a:t>Every past session key is rebuilt: 5 of 5 in our test.</a:t>
            </a:r>
            <a:endParaRPr lang="en-US" sz="1400" dirty="0"/>
          </a:p>
        </p:txBody>
      </p:sp>
      <p:sp>
        <p:nvSpPr>
          <p:cNvPr id="20" name="FS explain"/>
          <p:cNvSpPr txBox="1"/>
          <p:nvPr/>
        </p:nvSpPr>
        <p:spPr>
          <a:xfrm>
            <a:off x="457200" y="3520440"/>
            <a:ext cx="8229600" cy="1005840"/>
          </a:xfrm>
          <a:prstGeom prst="rect">
            <a:avLst/>
          </a:prstGeom>
          <a:noFill/>
          <a:ln/>
        </p:spPr>
        <p:txBody>
          <a:bodyPr wrap="square" lIns="0" tIns="0" rIns="0" bIns="0" rtlCol="0" anchor="t"/>
          <a:lstStyle/>
          <a:p>
            <a:pPr indent="0" marL="0">
              <a:buNone/>
            </a:pPr>
            <a:r>
              <a:rPr lang="en-US" sz="1400" b="1" dirty="0">
                <a:solidFill>
                  <a:schemeClr val="tx2"/>
                </a:solidFill>
              </a:rPr>
              <a:t>Why: </a:t>
            </a:r>
            <a:pPr indent="0" marL="0">
              <a:buNone/>
            </a:pPr>
            <a:r>
              <a:rPr lang="en-US" sz="1400" dirty="0">
                <a:solidFill>
                  <a:schemeClr val="tx1"/>
                </a:solidFill>
              </a:rPr>
              <a:t>K = KDF(k* ‖ Ni ‖ Nj ‖ t) uses no ephemeral secret, so k* plus recorded traffic rebuilds K. Fixing it needs a fresh key exchange per session, which is an ECC operation (276 ms on our chip).</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000" b="1" dirty="0">
                <a:solidFill>
                  <a:schemeClr val="tx2"/>
                </a:solidFill>
              </a:rPr>
              <a:t>Finding 5: the server does a hidden loop</a:t>
            </a:r>
            <a:endParaRPr lang="en-US" sz="3000" dirty="0"/>
          </a:p>
        </p:txBody>
      </p:sp>
      <p:sp>
        <p:nvSpPr>
          <p:cNvPr id="3" name="Code card"/>
          <p:cNvSpPr/>
          <p:nvPr/>
        </p:nvSpPr>
        <p:spPr>
          <a:xfrm>
            <a:off x="457200" y="1325880"/>
            <a:ext cx="4206240" cy="1691640"/>
          </a:xfrm>
          <a:prstGeom prst="roundRect">
            <a:avLst>
              <a:gd name="adj" fmla="val 4324"/>
            </a:avLst>
          </a:prstGeom>
          <a:solidFill>
            <a:schemeClr val="tx2"/>
          </a:solidFill>
          <a:ln/>
        </p:spPr>
      </p:sp>
      <p:sp>
        <p:nvSpPr>
          <p:cNvPr id="4" name="Lookup code"/>
          <p:cNvSpPr txBox="1"/>
          <p:nvPr/>
        </p:nvSpPr>
        <p:spPr>
          <a:xfrm>
            <a:off x="640080" y="1417320"/>
            <a:ext cx="3931920" cy="1508760"/>
          </a:xfrm>
          <a:prstGeom prst="rect">
            <a:avLst/>
          </a:prstGeom>
          <a:noFill/>
          <a:ln/>
        </p:spPr>
        <p:txBody>
          <a:bodyPr wrap="square" lIns="0" tIns="0" rIns="0" bIns="0"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for device in all_devices:</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    for t in epoch_window:</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        if H2(device.secret, t) == pid:</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            return device</a:t>
            </a:r>
            <a:endParaRPr lang="en-US" sz="1200" dirty="0"/>
          </a:p>
        </p:txBody>
      </p:sp>
      <p:sp>
        <p:nvSpPr>
          <p:cNvPr id="5" name="Loop text"/>
          <p:cNvSpPr txBox="1"/>
          <p:nvPr/>
        </p:nvSpPr>
        <p:spPr>
          <a:xfrm>
            <a:off x="457200" y="3200400"/>
            <a:ext cx="4206240" cy="1325880"/>
          </a:xfrm>
          <a:prstGeom prst="rect">
            <a:avLst/>
          </a:prstGeom>
          <a:noFill/>
          <a:ln/>
        </p:spPr>
        <p:txBody>
          <a:bodyPr wrap="square" lIns="0" tIns="0" rIns="0" bIns="0" rtlCol="0" anchor="t"/>
          <a:lstStyle/>
          <a:p>
            <a:pPr indent="0" marL="0">
              <a:buNone/>
            </a:pPr>
            <a:r>
              <a:rPr lang="en-US" sz="1400" dirty="0">
                <a:solidFill>
                  <a:schemeClr val="tx1"/>
                </a:solidFill>
              </a:rPr>
              <a:t>Pseudonyms change every message, so the server cannot look one up. It tries every device, and the cost grows with the fleet. The paper's table treats server cost as a constant.</a:t>
            </a:r>
            <a:endParaRPr lang="en-US" sz="1400" dirty="0"/>
          </a:p>
        </p:txBody>
      </p:sp>
      <p:graphicFrame>
        <p:nvGraphicFramePr>
          <p:cNvPr id="6" name="Lookup chart" descr=""/>
          <p:cNvGraphicFramePr/>
          <p:nvPr/>
        </p:nvGraphicFramePr>
        <p:xfrm>
          <a:off x="4937760" y="1280160"/>
          <a:ext cx="3749040" cy="2834640"/>
        </p:xfrm>
        <a:graphic xmlns:a="http://schemas.openxmlformats.org/drawingml/2006/main">
          <a:graphicData uri="http://schemas.openxmlformats.org/drawingml/2006/chart">
            <c:chart xmlns:c="http://schemas.openxmlformats.org/drawingml/2006/chart" r:id="rId1"/>
          </a:graphicData>
        </a:graphic>
      </p:graphicFrame>
      <p:sp>
        <p:nvSpPr>
          <p:cNvPr id="7" name="Lookup note"/>
          <p:cNvSpPr txBox="1"/>
          <p:nvPr/>
        </p:nvSpPr>
        <p:spPr>
          <a:xfrm>
            <a:off x="4937760" y="4160520"/>
            <a:ext cx="3749040" cy="411480"/>
          </a:xfrm>
          <a:prstGeom prst="rect">
            <a:avLst/>
          </a:prstGeom>
          <a:noFill/>
          <a:ln/>
        </p:spPr>
        <p:txBody>
          <a:bodyPr wrap="square" lIns="0" tIns="0" rIns="0" bIns="0" rtlCol="0" anchor="t"/>
          <a:lstStyle/>
          <a:p>
            <a:pPr indent="0" marL="0">
              <a:buNone/>
            </a:pPr>
            <a:r>
              <a:rPr lang="en-US" sz="1200" dirty="0">
                <a:solidFill>
                  <a:schemeClr val="accent4"/>
                </a:solidFill>
              </a:rPr>
              <a:t>A precomputed table removes the loop at the price of memory (about 416 KB in our setup).</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000" b="1" dirty="0">
                <a:solidFill>
                  <a:schemeClr val="tx2"/>
                </a:solidFill>
              </a:rPr>
              <a:t>It does run on a real microcontroller</a:t>
            </a:r>
            <a:endParaRPr lang="en-US" sz="3000" dirty="0"/>
          </a:p>
        </p:txBody>
      </p:sp>
      <p:sp>
        <p:nvSpPr>
          <p:cNvPr id="3" name="Stat tile 1"/>
          <p:cNvSpPr/>
          <p:nvPr/>
        </p:nvSpPr>
        <p:spPr>
          <a:xfrm>
            <a:off x="457200" y="1371600"/>
            <a:ext cx="1920240" cy="2286000"/>
          </a:xfrm>
          <a:prstGeom prst="roundRect">
            <a:avLst>
              <a:gd name="adj" fmla="val 3810"/>
            </a:avLst>
          </a:prstGeom>
          <a:solidFill>
            <a:schemeClr val="bg2"/>
          </a:solidFill>
          <a:ln/>
        </p:spPr>
      </p:sp>
      <p:sp>
        <p:nvSpPr>
          <p:cNvPr id="4" name="Tile number 1"/>
          <p:cNvSpPr txBox="1"/>
          <p:nvPr/>
        </p:nvSpPr>
        <p:spPr>
          <a:xfrm>
            <a:off x="594360" y="1508760"/>
            <a:ext cx="1645920"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5.26 ms</a:t>
            </a:r>
            <a:endParaRPr lang="en-US" sz="2800" dirty="0"/>
          </a:p>
        </p:txBody>
      </p:sp>
      <p:sp>
        <p:nvSpPr>
          <p:cNvPr id="5" name="Tile label 1"/>
          <p:cNvSpPr txBox="1"/>
          <p:nvPr/>
        </p:nvSpPr>
        <p:spPr>
          <a:xfrm>
            <a:off x="594360" y="2286000"/>
            <a:ext cx="1645920" cy="731520"/>
          </a:xfrm>
          <a:prstGeom prst="rect">
            <a:avLst/>
          </a:prstGeom>
          <a:noFill/>
          <a:ln/>
        </p:spPr>
        <p:txBody>
          <a:bodyPr wrap="square" lIns="0" tIns="0" rIns="0" bIns="0" rtlCol="0" anchor="t"/>
          <a:lstStyle/>
          <a:p>
            <a:pPr indent="0" marL="0">
              <a:buNone/>
            </a:pPr>
            <a:r>
              <a:rPr lang="en-US" sz="1400" dirty="0">
                <a:solidFill>
                  <a:schemeClr val="tx1"/>
                </a:solidFill>
              </a:rPr>
              <a:t>device compute per handshake</a:t>
            </a:r>
            <a:endParaRPr lang="en-US" sz="1400" dirty="0"/>
          </a:p>
        </p:txBody>
      </p:sp>
      <p:sp>
        <p:nvSpPr>
          <p:cNvPr id="6" name="Tile sub 1"/>
          <p:cNvSpPr txBox="1"/>
          <p:nvPr/>
        </p:nvSpPr>
        <p:spPr>
          <a:xfrm>
            <a:off x="594360" y="3108960"/>
            <a:ext cx="1645920" cy="411480"/>
          </a:xfrm>
          <a:prstGeom prst="rect">
            <a:avLst/>
          </a:prstGeom>
          <a:noFill/>
          <a:ln/>
        </p:spPr>
        <p:txBody>
          <a:bodyPr wrap="square" lIns="0" tIns="0" rIns="0" bIns="0" rtlCol="0" anchor="t"/>
          <a:lstStyle/>
          <a:p>
            <a:pPr indent="0" marL="0">
              <a:buNone/>
            </a:pPr>
            <a:r>
              <a:rPr lang="en-US" sz="1200" dirty="0">
                <a:solidFill>
                  <a:schemeClr val="accent4"/>
                </a:solidFill>
              </a:rPr>
              <a:t>1.67 build + 3.59 verify</a:t>
            </a:r>
            <a:endParaRPr lang="en-US" sz="1200" dirty="0"/>
          </a:p>
        </p:txBody>
      </p:sp>
      <p:sp>
        <p:nvSpPr>
          <p:cNvPr id="7" name="Stat tile 2"/>
          <p:cNvSpPr/>
          <p:nvPr/>
        </p:nvSpPr>
        <p:spPr>
          <a:xfrm>
            <a:off x="2560320" y="1371600"/>
            <a:ext cx="1920240" cy="2286000"/>
          </a:xfrm>
          <a:prstGeom prst="roundRect">
            <a:avLst>
              <a:gd name="adj" fmla="val 3810"/>
            </a:avLst>
          </a:prstGeom>
          <a:solidFill>
            <a:schemeClr val="bg2"/>
          </a:solidFill>
          <a:ln/>
        </p:spPr>
      </p:sp>
      <p:sp>
        <p:nvSpPr>
          <p:cNvPr id="8" name="Tile number 2"/>
          <p:cNvSpPr txBox="1"/>
          <p:nvPr/>
        </p:nvSpPr>
        <p:spPr>
          <a:xfrm>
            <a:off x="2697480" y="1508760"/>
            <a:ext cx="1645920"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216 B</a:t>
            </a:r>
            <a:endParaRPr lang="en-US" sz="2800" dirty="0"/>
          </a:p>
        </p:txBody>
      </p:sp>
      <p:sp>
        <p:nvSpPr>
          <p:cNvPr id="9" name="Tile label 2"/>
          <p:cNvSpPr txBox="1"/>
          <p:nvPr/>
        </p:nvSpPr>
        <p:spPr>
          <a:xfrm>
            <a:off x="2697480" y="2286000"/>
            <a:ext cx="1645920" cy="731520"/>
          </a:xfrm>
          <a:prstGeom prst="rect">
            <a:avLst/>
          </a:prstGeom>
          <a:noFill/>
          <a:ln/>
        </p:spPr>
        <p:txBody>
          <a:bodyPr wrap="square" lIns="0" tIns="0" rIns="0" bIns="0" rtlCol="0" anchor="t"/>
          <a:lstStyle/>
          <a:p>
            <a:pPr indent="0" marL="0">
              <a:buNone/>
            </a:pPr>
            <a:r>
              <a:rPr lang="en-US" sz="1400" dirty="0">
                <a:solidFill>
                  <a:schemeClr val="tx1"/>
                </a:solidFill>
              </a:rPr>
              <a:t>first message (M1)</a:t>
            </a:r>
            <a:endParaRPr lang="en-US" sz="1400" dirty="0"/>
          </a:p>
        </p:txBody>
      </p:sp>
      <p:sp>
        <p:nvSpPr>
          <p:cNvPr id="10" name="Tile sub 2"/>
          <p:cNvSpPr txBox="1"/>
          <p:nvPr/>
        </p:nvSpPr>
        <p:spPr>
          <a:xfrm>
            <a:off x="2697480" y="3108960"/>
            <a:ext cx="1645920" cy="411480"/>
          </a:xfrm>
          <a:prstGeom prst="rect">
            <a:avLst/>
          </a:prstGeom>
          <a:noFill/>
          <a:ln/>
        </p:spPr>
        <p:txBody>
          <a:bodyPr wrap="square" lIns="0" tIns="0" rIns="0" bIns="0" rtlCol="0" anchor="t"/>
          <a:lstStyle/>
          <a:p>
            <a:pPr indent="0" marL="0">
              <a:buNone/>
            </a:pPr>
            <a:r>
              <a:rPr lang="en-US" sz="1200" dirty="0">
                <a:solidFill>
                  <a:schemeClr val="accent4"/>
                </a:solidFill>
              </a:rPr>
              <a:t>52 ms over Wi-Fi</a:t>
            </a:r>
            <a:endParaRPr lang="en-US" sz="1200" dirty="0"/>
          </a:p>
        </p:txBody>
      </p:sp>
      <p:sp>
        <p:nvSpPr>
          <p:cNvPr id="11" name="Stat tile 3"/>
          <p:cNvSpPr/>
          <p:nvPr/>
        </p:nvSpPr>
        <p:spPr>
          <a:xfrm>
            <a:off x="4663440" y="1371600"/>
            <a:ext cx="1920240" cy="2286000"/>
          </a:xfrm>
          <a:prstGeom prst="roundRect">
            <a:avLst>
              <a:gd name="adj" fmla="val 3810"/>
            </a:avLst>
          </a:prstGeom>
          <a:solidFill>
            <a:schemeClr val="bg2"/>
          </a:solidFill>
          <a:ln/>
        </p:spPr>
      </p:sp>
      <p:sp>
        <p:nvSpPr>
          <p:cNvPr id="12" name="Tile number 3"/>
          <p:cNvSpPr txBox="1"/>
          <p:nvPr/>
        </p:nvSpPr>
        <p:spPr>
          <a:xfrm>
            <a:off x="4800600" y="1508760"/>
            <a:ext cx="1645920"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276 ms</a:t>
            </a:r>
            <a:endParaRPr lang="en-US" sz="2800" dirty="0"/>
          </a:p>
        </p:txBody>
      </p:sp>
      <p:sp>
        <p:nvSpPr>
          <p:cNvPr id="13" name="Tile label 3"/>
          <p:cNvSpPr txBox="1"/>
          <p:nvPr/>
        </p:nvSpPr>
        <p:spPr>
          <a:xfrm>
            <a:off x="4800600" y="2286000"/>
            <a:ext cx="1645920" cy="731520"/>
          </a:xfrm>
          <a:prstGeom prst="rect">
            <a:avLst/>
          </a:prstGeom>
          <a:noFill/>
          <a:ln/>
        </p:spPr>
        <p:txBody>
          <a:bodyPr wrap="square" lIns="0" tIns="0" rIns="0" bIns="0" rtlCol="0" anchor="t"/>
          <a:lstStyle/>
          <a:p>
            <a:pPr indent="0" marL="0">
              <a:buNone/>
            </a:pPr>
            <a:r>
              <a:rPr lang="en-US" sz="1400" dirty="0">
                <a:solidFill>
                  <a:schemeClr val="tx1"/>
                </a:solidFill>
              </a:rPr>
              <a:t>one ECC multiplication</a:t>
            </a:r>
            <a:endParaRPr lang="en-US" sz="1400" dirty="0"/>
          </a:p>
        </p:txBody>
      </p:sp>
      <p:sp>
        <p:nvSpPr>
          <p:cNvPr id="14" name="Tile sub 3"/>
          <p:cNvSpPr txBox="1"/>
          <p:nvPr/>
        </p:nvSpPr>
        <p:spPr>
          <a:xfrm>
            <a:off x="4800600" y="3108960"/>
            <a:ext cx="1645920" cy="411480"/>
          </a:xfrm>
          <a:prstGeom prst="rect">
            <a:avLst/>
          </a:prstGeom>
          <a:noFill/>
          <a:ln/>
        </p:spPr>
        <p:txBody>
          <a:bodyPr wrap="square" lIns="0" tIns="0" rIns="0" bIns="0" rtlCol="0" anchor="t"/>
          <a:lstStyle/>
          <a:p>
            <a:pPr indent="0" marL="0">
              <a:buNone/>
            </a:pPr>
            <a:r>
              <a:rPr lang="en-US" sz="1200" dirty="0">
                <a:solidFill>
                  <a:schemeClr val="accent4"/>
                </a:solidFill>
              </a:rPr>
              <a:t>on the same chip</a:t>
            </a:r>
            <a:endParaRPr lang="en-US" sz="1200" dirty="0"/>
          </a:p>
        </p:txBody>
      </p:sp>
      <p:sp>
        <p:nvSpPr>
          <p:cNvPr id="15" name="Stat tile 4"/>
          <p:cNvSpPr/>
          <p:nvPr/>
        </p:nvSpPr>
        <p:spPr>
          <a:xfrm>
            <a:off x="6766560" y="1371600"/>
            <a:ext cx="1920240" cy="2286000"/>
          </a:xfrm>
          <a:prstGeom prst="roundRect">
            <a:avLst>
              <a:gd name="adj" fmla="val 3810"/>
            </a:avLst>
          </a:prstGeom>
          <a:solidFill>
            <a:schemeClr val="bg2"/>
          </a:solidFill>
          <a:ln/>
        </p:spPr>
      </p:sp>
      <p:sp>
        <p:nvSpPr>
          <p:cNvPr id="16" name="Tile number 4"/>
          <p:cNvSpPr txBox="1"/>
          <p:nvPr/>
        </p:nvSpPr>
        <p:spPr>
          <a:xfrm>
            <a:off x="6903720" y="1508760"/>
            <a:ext cx="1645920" cy="7315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 52×</a:t>
            </a:r>
            <a:endParaRPr lang="en-US" sz="2800" dirty="0"/>
          </a:p>
        </p:txBody>
      </p:sp>
      <p:sp>
        <p:nvSpPr>
          <p:cNvPr id="17" name="Tile label 4"/>
          <p:cNvSpPr txBox="1"/>
          <p:nvPr/>
        </p:nvSpPr>
        <p:spPr>
          <a:xfrm>
            <a:off x="6903720" y="2286000"/>
            <a:ext cx="1645920" cy="731520"/>
          </a:xfrm>
          <a:prstGeom prst="rect">
            <a:avLst/>
          </a:prstGeom>
          <a:noFill/>
          <a:ln/>
        </p:spPr>
        <p:txBody>
          <a:bodyPr wrap="square" lIns="0" tIns="0" rIns="0" bIns="0" rtlCol="0" anchor="t"/>
          <a:lstStyle/>
          <a:p>
            <a:pPr indent="0" marL="0">
              <a:buNone/>
            </a:pPr>
            <a:r>
              <a:rPr lang="en-US" sz="1400" dirty="0">
                <a:solidFill>
                  <a:schemeClr val="tx1"/>
                </a:solidFill>
              </a:rPr>
              <a:t>that ECC op vs. the whole handshake</a:t>
            </a:r>
            <a:endParaRPr lang="en-US" sz="1400" dirty="0"/>
          </a:p>
        </p:txBody>
      </p:sp>
      <p:sp>
        <p:nvSpPr>
          <p:cNvPr id="18" name="Tile sub 4"/>
          <p:cNvSpPr txBox="1"/>
          <p:nvPr/>
        </p:nvSpPr>
        <p:spPr>
          <a:xfrm>
            <a:off x="6903720" y="3108960"/>
            <a:ext cx="1645920" cy="411480"/>
          </a:xfrm>
          <a:prstGeom prst="rect">
            <a:avLst/>
          </a:prstGeom>
          <a:noFill/>
          <a:ln/>
        </p:spPr>
        <p:txBody>
          <a:bodyPr wrap="square" lIns="0" tIns="0" rIns="0" bIns="0" rtlCol="0" anchor="t"/>
          <a:lstStyle/>
          <a:p>
            <a:pPr indent="0" marL="0">
              <a:buNone/>
            </a:pPr>
            <a:r>
              <a:rPr lang="en-US" sz="1200" dirty="0">
                <a:solidFill>
                  <a:schemeClr val="accent4"/>
                </a:solidFill>
              </a:rPr>
              <a:t>276 ms ÷ 5.26 ms</a:t>
            </a:r>
            <a:endParaRPr lang="en-US" sz="1200" dirty="0"/>
          </a:p>
        </p:txBody>
      </p:sp>
      <p:sp>
        <p:nvSpPr>
          <p:cNvPr id="19" name="Chip takeaway"/>
          <p:cNvSpPr txBox="1"/>
          <p:nvPr/>
        </p:nvSpPr>
        <p:spPr>
          <a:xfrm>
            <a:off x="457200" y="3886200"/>
            <a:ext cx="8229600" cy="640080"/>
          </a:xfrm>
          <a:prstGeom prst="rect">
            <a:avLst/>
          </a:prstGeom>
          <a:noFill/>
          <a:ln/>
        </p:spPr>
        <p:txBody>
          <a:bodyPr wrap="square" lIns="0" tIns="0" rIns="0" bIns="0" rtlCol="0" anchor="t"/>
          <a:lstStyle/>
          <a:p>
            <a:pPr indent="0" marL="0">
              <a:buNone/>
            </a:pPr>
            <a:r>
              <a:rPr lang="en-US" sz="1600" b="1" dirty="0">
                <a:solidFill>
                  <a:schemeClr val="tx2"/>
                </a:solidFill>
              </a:rPr>
              <a:t>The protocol itself is genuinely light. The paper's weakness is its evidence and its constants, not the idea.</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000" b="1" dirty="0">
                <a:solidFill>
                  <a:schemeClr val="tx2"/>
                </a:solidFill>
              </a:rPr>
              <a:t>What we show, and what we don't claim</a:t>
            </a:r>
            <a:endParaRPr lang="en-US" sz="3000" dirty="0"/>
          </a:p>
        </p:txBody>
      </p:sp>
      <p:sp>
        <p:nvSpPr>
          <p:cNvPr id="3" name="Show panel"/>
          <p:cNvSpPr/>
          <p:nvPr/>
        </p:nvSpPr>
        <p:spPr>
          <a:xfrm>
            <a:off x="457200" y="1280160"/>
            <a:ext cx="3977640" cy="3246120"/>
          </a:xfrm>
          <a:prstGeom prst="roundRect">
            <a:avLst>
              <a:gd name="adj" fmla="val 2254"/>
            </a:avLst>
          </a:prstGeom>
          <a:solidFill>
            <a:schemeClr val="bg2"/>
          </a:solidFill>
          <a:ln/>
        </p:spPr>
      </p:sp>
      <p:sp>
        <p:nvSpPr>
          <p:cNvPr id="4" name="Show head"/>
          <p:cNvSpPr txBox="1"/>
          <p:nvPr/>
        </p:nvSpPr>
        <p:spPr>
          <a:xfrm>
            <a:off x="685800" y="1417320"/>
            <a:ext cx="3566160" cy="320040"/>
          </a:xfrm>
          <a:prstGeom prst="rect">
            <a:avLst/>
          </a:prstGeom>
          <a:noFill/>
          <a:ln/>
        </p:spPr>
        <p:txBody>
          <a:bodyPr wrap="square" lIns="0" tIns="0" rIns="0" bIns="0" rtlCol="0" anchor="t"/>
          <a:lstStyle/>
          <a:p>
            <a:pPr indent="0" marL="0">
              <a:buNone/>
            </a:pPr>
            <a:r>
              <a:rPr lang="en-US" sz="1800" b="1" dirty="0">
                <a:solidFill>
                  <a:schemeClr val="accent3"/>
                </a:solidFill>
              </a:rPr>
              <a:t>We show</a:t>
            </a:r>
            <a:endParaRPr lang="en-US" sz="1800" dirty="0"/>
          </a:p>
        </p:txBody>
      </p:sp>
      <p:sp>
        <p:nvSpPr>
          <p:cNvPr id="5" name="Show list"/>
          <p:cNvSpPr txBox="1"/>
          <p:nvPr/>
        </p:nvSpPr>
        <p:spPr>
          <a:xfrm>
            <a:off x="685800" y="1828800"/>
            <a:ext cx="35661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Headline savings are not derivable from the published tables</a:t>
            </a:r>
            <a:endParaRPr lang="en-US" sz="1400" dirty="0"/>
          </a:p>
          <a:p>
            <a:pPr marL="342900" indent="-342900">
              <a:spcAft>
                <a:spcPts val="600"/>
              </a:spcAft>
              <a:buSzPct val="100000"/>
              <a:buChar char="•"/>
            </a:pPr>
            <a:r>
              <a:rPr lang="en-US" sz="1400" dirty="0">
                <a:solidFill>
                  <a:schemeClr val="tx1"/>
                </a:solidFill>
              </a:rPr>
              <a:t>Cost constants are off by 16× and 5–12×</a:t>
            </a:r>
            <a:endParaRPr lang="en-US" sz="1400" dirty="0"/>
          </a:p>
          <a:p>
            <a:pPr marL="342900" indent="-342900">
              <a:spcAft>
                <a:spcPts val="600"/>
              </a:spcAft>
              <a:buSzPct val="100000"/>
              <a:buChar char="•"/>
            </a:pPr>
            <a:r>
              <a:rPr lang="en-US" sz="1400" dirty="0">
                <a:solidFill>
                  <a:schemeClr val="tx1"/>
                </a:solidFill>
              </a:rPr>
              <a:t>The ranking depends on counting the KDF</a:t>
            </a:r>
            <a:endParaRPr lang="en-US" sz="1400" dirty="0"/>
          </a:p>
          <a:p>
            <a:pPr marL="342900" indent="-342900">
              <a:buSzPct val="100000"/>
              <a:buChar char="•"/>
            </a:pPr>
            <a:r>
              <a:rPr lang="en-US" sz="1400" dirty="0">
                <a:solidFill>
                  <a:schemeClr val="tx1"/>
                </a:solidFill>
              </a:rPr>
              <a:t>No forward secrecy; server cost grows with devices</a:t>
            </a:r>
            <a:endParaRPr lang="en-US" sz="1400" dirty="0"/>
          </a:p>
        </p:txBody>
      </p:sp>
      <p:sp>
        <p:nvSpPr>
          <p:cNvPr id="6" name="Dont panel"/>
          <p:cNvSpPr/>
          <p:nvPr/>
        </p:nvSpPr>
        <p:spPr>
          <a:xfrm>
            <a:off x="4709160" y="1280160"/>
            <a:ext cx="3977640" cy="3246120"/>
          </a:xfrm>
          <a:prstGeom prst="roundRect">
            <a:avLst>
              <a:gd name="adj" fmla="val 2254"/>
            </a:avLst>
          </a:prstGeom>
          <a:solidFill>
            <a:schemeClr val="bg2"/>
          </a:solidFill>
          <a:ln/>
        </p:spPr>
      </p:sp>
      <p:sp>
        <p:nvSpPr>
          <p:cNvPr id="7" name="Dont head"/>
          <p:cNvSpPr txBox="1"/>
          <p:nvPr/>
        </p:nvSpPr>
        <p:spPr>
          <a:xfrm>
            <a:off x="4937760" y="1417320"/>
            <a:ext cx="3566160" cy="320040"/>
          </a:xfrm>
          <a:prstGeom prst="rect">
            <a:avLst/>
          </a:prstGeom>
          <a:noFill/>
          <a:ln/>
        </p:spPr>
        <p:txBody>
          <a:bodyPr wrap="square" lIns="0" tIns="0" rIns="0" bIns="0" rtlCol="0" anchor="t"/>
          <a:lstStyle/>
          <a:p>
            <a:pPr indent="0" marL="0">
              <a:buNone/>
            </a:pPr>
            <a:r>
              <a:rPr lang="en-US" sz="1800" b="1" dirty="0">
                <a:solidFill>
                  <a:schemeClr val="accent2"/>
                </a:solidFill>
              </a:rPr>
              <a:t>We do not claim</a:t>
            </a:r>
            <a:endParaRPr lang="en-US" sz="1800" dirty="0"/>
          </a:p>
        </p:txBody>
      </p:sp>
      <p:sp>
        <p:nvSpPr>
          <p:cNvPr id="8" name="Dont list"/>
          <p:cNvSpPr txBox="1"/>
          <p:nvPr/>
        </p:nvSpPr>
        <p:spPr>
          <a:xfrm>
            <a:off x="4937760" y="1828800"/>
            <a:ext cx="35661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That the authors' simulation is wrong, only that it cannot be reproduced</a:t>
            </a:r>
            <a:endParaRPr lang="en-US" sz="1400" dirty="0"/>
          </a:p>
          <a:p>
            <a:pPr marL="342900" indent="-342900">
              <a:spcAft>
                <a:spcPts val="600"/>
              </a:spcAft>
              <a:buSzPct val="100000"/>
              <a:buChar char="•"/>
            </a:pPr>
            <a:r>
              <a:rPr lang="en-US" sz="1400" dirty="0">
                <a:solidFill>
                  <a:schemeClr val="tx1"/>
                </a:solidFill>
              </a:rPr>
              <a:t>Results beyond one ESP8266 and one crypto library</a:t>
            </a:r>
            <a:endParaRPr lang="en-US" sz="1400" dirty="0"/>
          </a:p>
          <a:p>
            <a:pPr marL="342900" indent="-342900">
              <a:spcAft>
                <a:spcPts val="600"/>
              </a:spcAft>
              <a:buSzPct val="100000"/>
              <a:buChar char="•"/>
            </a:pPr>
            <a:r>
              <a:rPr lang="en-US" sz="1400" dirty="0">
                <a:solidFill>
                  <a:schemeClr val="tx1"/>
                </a:solidFill>
              </a:rPr>
              <a:t>That we re-implemented the rivals; two table rows were matched via secondary sources only</a:t>
            </a:r>
            <a:endParaRPr lang="en-US" sz="1400" dirty="0"/>
          </a:p>
          <a:p>
            <a:pPr marL="342900" indent="-342900">
              <a:buSzPct val="100000"/>
              <a:buChar char="•"/>
            </a:pPr>
            <a:r>
              <a:rPr lang="en-US" sz="1400" dirty="0">
                <a:solidFill>
                  <a:schemeClr val="tx1"/>
                </a:solidFill>
              </a:rPr>
              <a:t>A formal security proof; the authors were not contacted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914400"/>
            <a:ext cx="7863840" cy="822960"/>
          </a:xfrm>
          <a:prstGeom prst="rect">
            <a:avLst/>
          </a:prstGeom>
          <a:noFill/>
          <a:ln/>
        </p:spPr>
        <p:txBody>
          <a:bodyPr wrap="square" lIns="0" tIns="0" rIns="0" bIns="0" rtlCol="0" anchor="t"/>
          <a:lstStyle/>
          <a:p>
            <a:pPr algn="l" indent="0" marL="0">
              <a:buNone/>
            </a:pPr>
            <a:r>
              <a:rPr lang="en-US" sz="3800" b="1" dirty="0">
                <a:solidFill>
                  <a:schemeClr val="bg1"/>
                </a:solidFill>
              </a:rPr>
              <a:t>Take-away</a:t>
            </a:r>
            <a:endParaRPr lang="en-US" sz="3800" dirty="0"/>
          </a:p>
        </p:txBody>
      </p:sp>
      <p:sp>
        <p:nvSpPr>
          <p:cNvPr id="3" name="Text 0"/>
          <p:cNvSpPr/>
          <p:nvPr>
            <p:ph idx="101" type="body" hasCustomPrompt="1"/>
          </p:nvPr>
        </p:nvSpPr>
        <p:spPr>
          <a:xfrm>
            <a:off x="640080" y="1920240"/>
            <a:ext cx="7498080" cy="1828800"/>
          </a:xfrm>
          <a:prstGeom prst="rect">
            <a:avLst/>
          </a:prstGeom>
          <a:noFill/>
          <a:ln/>
        </p:spPr>
        <p:txBody>
          <a:bodyPr wrap="square" lIns="0" tIns="0" rIns="0" bIns="0" rtlCol="0" anchor="t"/>
          <a:lstStyle/>
          <a:p>
            <a:pPr algn="l" indent="0" marL="0">
              <a:buNone/>
            </a:pPr>
            <a:r>
              <a:rPr lang="en-US" sz="2000" dirty="0">
                <a:solidFill>
                  <a:schemeClr val="bg2"/>
                </a:solidFill>
              </a:rPr>
              <a:t>The savings cannot be reproduced from what was published. On real hardware the scheme beats ECC-heavy rivals by a wide margin, loses to hash-only ones, has no forward secrecy, and its server cost grows with the fleet.</a:t>
            </a:r>
            <a:endParaRPr lang="en-US" sz="2000" dirty="0"/>
          </a:p>
        </p:txBody>
      </p:sp>
      <p:sp>
        <p:nvSpPr>
          <p:cNvPr id="4" name="Reference"/>
          <p:cNvSpPr txBox="1"/>
          <p:nvPr/>
        </p:nvSpPr>
        <p:spPr>
          <a:xfrm>
            <a:off x="640080" y="4160520"/>
            <a:ext cx="7863840" cy="457200"/>
          </a:xfrm>
          <a:prstGeom prst="rect">
            <a:avLst/>
          </a:prstGeom>
          <a:noFill/>
          <a:ln/>
        </p:spPr>
        <p:txBody>
          <a:bodyPr wrap="square" lIns="0" tIns="0" rIns="0" bIns="0" rtlCol="0" anchor="t"/>
          <a:lstStyle/>
          <a:p>
            <a:pPr indent="0" marL="0">
              <a:buNone/>
            </a:pPr>
            <a:r>
              <a:rPr lang="en-US" sz="1200" dirty="0">
                <a:solidFill>
                  <a:schemeClr val="bg2"/>
                </a:solidFill>
              </a:rPr>
              <a:t>Base paper: Al-Rasheed et al., IEEE Trans. Consumer Electronics 72(2), 4483–4491, May 2026. DOI 10.1109/TCE.2026.3662053</a:t>
            </a:r>
            <a:endParaRPr lang="en-US" sz="1200" dirty="0"/>
          </a:p>
        </p:txBody>
      </p:sp>
    </p:spTree>
  </p:cSld>
  <p:clrMapOvr>
    <a:masterClrMapping/>
  </p:clrMapOvr>
</p:sld>
</file>

<file path=ppt/theme/theme1.xml><?xml version="1.0" encoding="utf-8"?>
<a:theme xmlns:a="http://schemas.openxmlformats.org/drawingml/2006/main" name="Research Audit">
  <a:themeElements>
    <a:clrScheme name="Research Audit">
      <a:dk1>
        <a:srgbClr val="1B1F2A"/>
      </a:dk1>
      <a:lt1>
        <a:srgbClr val="FFFFFF"/>
      </a:lt1>
      <a:dk2>
        <a:srgbClr val="1F3A5F"/>
      </a:dk2>
      <a:lt2>
        <a:srgbClr val="F1F4F8"/>
      </a:lt2>
      <a:accent1>
        <a:srgbClr val="1F3A5F"/>
      </a:accent1>
      <a:accent2>
        <a:srgbClr val="C0452F"/>
      </a:accent2>
      <a:accent3>
        <a:srgbClr val="2A7F62"/>
      </a:accent3>
      <a:accent4>
        <a:srgbClr val="6B7486"/>
      </a:accent4>
      <a:accent5>
        <a:srgbClr val="D9A441"/>
      </a:accent5>
      <a:accent6>
        <a:srgbClr val="5B7DB1"/>
      </a:accent6>
      <a:hlink>
        <a:srgbClr val="1F3A5F"/>
      </a:hlink>
      <a:folHlink>
        <a:srgbClr val="6B7486"/>
      </a:folHlink>
    </a:clrScheme>
    <a:fontScheme name="Research Aud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the Numbers Hold on Real Hardware?</dc:title>
  <dc:subject>PptxGenJS Presentation</dc:subject>
  <dc:creator>Jay Kerkar, Chaitanya Kelkar, Chirag Poornamath, Yash Kolekar</dc:creator>
  <cp:lastModifiedBy>Jay Kerkar, Chaitanya Kelkar, Chirag Poornamath, Yash Kolekar</cp:lastModifiedBy>
  <cp:revision>1</cp:revision>
  <dcterms:created xsi:type="dcterms:W3CDTF">2026-10-26T12:56:58Z</dcterms:created>
  <dcterms:modified xsi:type="dcterms:W3CDTF">2026-10-26T12:56:58Z</dcterms:modified>
</cp:coreProperties>
</file>