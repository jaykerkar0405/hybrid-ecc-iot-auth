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IBM Plex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Italic.fntdata"/><Relationship Id="rId11" Type="http://schemas.openxmlformats.org/officeDocument/2006/relationships/slide" Target="slides/slide7.xml"/><Relationship Id="rId22" Type="http://schemas.openxmlformats.org/officeDocument/2006/relationships/font" Target="fonts/IBMPlexMono-bold.fntdata"/><Relationship Id="rId10" Type="http://schemas.openxmlformats.org/officeDocument/2006/relationships/slide" Target="slides/slide6.xml"/><Relationship Id="rId21" Type="http://schemas.openxmlformats.org/officeDocument/2006/relationships/font" Target="fonts/IBMPlexMono-regular.fntdata"/><Relationship Id="rId13" Type="http://schemas.openxmlformats.org/officeDocument/2006/relationships/slide" Target="slides/slide9.xml"/><Relationship Id="rId24" Type="http://schemas.openxmlformats.org/officeDocument/2006/relationships/font" Target="fonts/IBMPlexMono-boldItalic.fntdata"/><Relationship Id="rId12" Type="http://schemas.openxmlformats.org/officeDocument/2006/relationships/slide" Target="slides/slide8.xml"/><Relationship Id="rId23" Type="http://schemas.openxmlformats.org/officeDocument/2006/relationships/font" Target="fonts/IBMPlex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BMPlexSans-italic.fntdata"/><Relationship Id="rId6" Type="http://schemas.openxmlformats.org/officeDocument/2006/relationships/slide" Target="slides/slide2.xml"/><Relationship Id="rId18" Type="http://schemas.openxmlformats.org/officeDocument/2006/relationships/font" Target="fonts/IBMPlex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expectations: two-part review — the academic protocol, then our working code. Mention a live implementation/demo follows this deck.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Related-work examples if asked: ReLAC (blockchain access control, poor revocation scalability); distributed public/private key scheme (secure but complex); CUDA-BiLSTM intrusion detection (different problem); 6-message hash+AES scheme (lengthy, complex).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Registration happens once per device lifetime; login and mutual auth happen every session. The paper's 'maximum three attempts' rule applies across login and authentication — three consecutive failures blocks the identity.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'aha' moment: contrast with legacy PKI schemes where every session pays for scalar multiplication. All ECC cost is paid once at provisioning; recurring per-session cost is just hashing + AEAD — 10-100x cheaper.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 per row: concept, formula, why it exists. t (epoch/time index) runs through pseudonym rotation and session-key freshness — makes replay attacks detectable. Eq. 12-20 define the full message construction/verification if pressed.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Flag explicitly: this is a security sketch, not a machine-checked proof (no Tamarin/ProVerif model exists). Kept as a v2 backlog item in the PRD. Preview slide 8's decision here — the sketch only covers the nonce-based model.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Bridge slide into 'why we built code at all': claims are simulation-based with assumed constants, not measured on real hardware or verified by an independent implementation.</a:t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Anticipates the reviewer question: 'the paper gives pseudocode in Section II — why isn't your code just that?' Answer: the pseudocode has a known replay weakness, so we implemented the model the authors use to argue security. Documented in the PRD as a deliberate, disclosed deviation.</a:t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high-level; save file-by-file explanation for the live demo. If asked 'why transport-agnostic,' point to the PRD's future-firmware use case: protocol core should port to an embedded target later without touching crypto/ or the message format.</a:t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clear this is intellectually honest, not a weakness: we're not claiming to falsify the paper's numbers on different hardware; we're providing an independently verifiable data point alongside an analytical reproduction using the paper's own formulas (Table V, e.g. 7T_H, 1T_fe + 13T_H + 2T_SE/D).</a:t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Placeholder slide — drop in real numbers once the benchmark run completes. Keep the visual style consistent with the rest of the deck.</a:t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ownership: state which of these five items are done today vs. in progress. If reviewer sign-off is needed on anything (e.g. epoch/clock-drift tolerance window, flagged as open in the PRD), ask for it explicitly here rather than in Q&amp;A.</a:t>
            </a:r>
            <a:endParaRPr/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2619578"/>
            <a:ext cx="18021299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CAPSTONE REVIEW — PAPER + IMPLEMENTATION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52500" y="3197099"/>
            <a:ext cx="14716125" cy="15194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045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5400"/>
              <a:buFont typeface="IBM Plex Sans"/>
              <a:buNone/>
            </a:pPr>
            <a:r>
              <a:rPr b="1" i="0" lang="en-US" sz="54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Low-Cost Hybrid ECC–Symmetric Mutual Authentication Protocol for IoT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52500" y="4945153"/>
            <a:ext cx="18021299" cy="510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2850"/>
              <a:buFont typeface="IBM Plex Sans"/>
              <a:buNone/>
            </a:pPr>
            <a:r>
              <a:rPr b="0" i="0" lang="en-US" sz="28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 Review + Reference Implementation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500" y="5950419"/>
            <a:ext cx="12382500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52500" y="6301924"/>
            <a:ext cx="12753975" cy="8381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42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250"/>
              <a:buFont typeface="IBM Plex Sans"/>
              <a:buNone/>
            </a:pPr>
            <a:r>
              <a:rPr b="0" i="1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“Reviewing the protocol design and mathematical model (Section III), and walking through our Python reference implementation.”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52500" y="7368615"/>
            <a:ext cx="13620750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Al-Rasheed et al., IEEE Trans. Consumer Electronics, Vol. 72, No. 2, May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952500" y="878898"/>
            <a:ext cx="1659434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MOTIVATION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&amp; Motivation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52500" y="2613286"/>
            <a:ext cx="5257827" cy="5940204"/>
          </a:xfrm>
          <a:prstGeom prst="roundRect">
            <a:avLst>
              <a:gd fmla="val 1087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304005" y="2964791"/>
            <a:ext cx="501029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04005" y="3434953"/>
            <a:ext cx="5010299" cy="462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Shared, unsecured medium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04005" y="4030671"/>
            <a:ext cx="4691462" cy="10666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Devices and servers exchange data over channels an attacker can eavesdrop, replay, drop, or inject into.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515086" y="2613286"/>
            <a:ext cx="5257827" cy="5940204"/>
          </a:xfrm>
          <a:prstGeom prst="roundRect">
            <a:avLst>
              <a:gd fmla="val 1087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66591" y="2964791"/>
            <a:ext cx="501029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866591" y="3434953"/>
            <a:ext cx="5010299" cy="462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Existing schemes fall short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66591" y="4030671"/>
            <a:ext cx="4691462" cy="10666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Prior proposals are application-specific, overly complex, or don’t scale to large IoT deployments.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2077672" y="2613286"/>
            <a:ext cx="5257827" cy="5940204"/>
          </a:xfrm>
          <a:prstGeom prst="roundRect">
            <a:avLst>
              <a:gd fmla="val 1087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2429177" y="2964791"/>
            <a:ext cx="501029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429177" y="3434953"/>
            <a:ext cx="5010299" cy="462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 matters at IoT scale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429177" y="4030671"/>
            <a:ext cx="4691462" cy="10666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Constrained devices can’t afford heavy asymmetric crypto or multi-message handshakes every session.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52500" y="8972577"/>
            <a:ext cx="16382999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52500" y="9247936"/>
            <a:ext cx="16874489" cy="410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Goal: verify legitimacy of both device and server before any communication session begins — with minimum overhead.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952500" y="878898"/>
            <a:ext cx="2323133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PROTOCOL SHAPE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Protocol Overview: Three Phases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52500" y="2613286"/>
            <a:ext cx="4953000" cy="7006963"/>
          </a:xfrm>
          <a:prstGeom prst="roundRect">
            <a:avLst>
              <a:gd fmla="val 1154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342159" y="3002945"/>
            <a:ext cx="459105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PHASE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342159" y="3466207"/>
            <a:ext cx="4591050" cy="4840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700"/>
              <a:buFont typeface="IBM Plex Sans"/>
              <a:buNone/>
            </a:pPr>
            <a:r>
              <a:rPr b="1" i="0" lang="en-US" sz="27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Offline Registration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342159" y="4102650"/>
            <a:ext cx="4298892" cy="14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TA issues each device/server a long-term ECC-derived secret λ </a:t>
            </a:r>
            <a:r>
              <a:rPr b="0" baseline="-25000" i="0" lang="en-US" sz="15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X </a:t>
            </a: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 an ECDH-style exchange — once, out of band, before deployment.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867400" y="2613286"/>
            <a:ext cx="838200" cy="7045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667500" y="2613286"/>
            <a:ext cx="4953000" cy="7006963"/>
          </a:xfrm>
          <a:prstGeom prst="roundRect">
            <a:avLst>
              <a:gd fmla="val 1154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7057159" y="3002945"/>
            <a:ext cx="459105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PHASE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057159" y="3466207"/>
            <a:ext cx="4591050" cy="4840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700"/>
              <a:buFont typeface="IBM Plex Sans"/>
              <a:buNone/>
            </a:pPr>
            <a:r>
              <a:rPr b="1" i="0" lang="en-US" sz="27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057159" y="4102650"/>
            <a:ext cx="4298892" cy="14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Device presents MAC address and hash digest HD = h(MAC </a:t>
            </a:r>
            <a:r>
              <a:rPr b="0" baseline="-25000" i="0" lang="en-US" sz="15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D </a:t>
            </a: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∥PWD) as a pre-authentication gate — optional/togglable in our implementation.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582400" y="2613286"/>
            <a:ext cx="838200" cy="7045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2382500" y="2613286"/>
            <a:ext cx="4953000" cy="7006963"/>
          </a:xfrm>
          <a:prstGeom prst="roundRect">
            <a:avLst>
              <a:gd fmla="val 1154" name="adj"/>
            </a:avLst>
          </a:prstGeom>
          <a:solidFill>
            <a:srgbClr val="1E2124"/>
          </a:solidFill>
          <a:ln cap="flat" cmpd="sng" w="9525">
            <a:solidFill>
              <a:srgbClr val="0A36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2772159" y="3002945"/>
            <a:ext cx="459105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PHASE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2772159" y="3466207"/>
            <a:ext cx="4591050" cy="4840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700"/>
              <a:buFont typeface="IBM Plex Sans"/>
              <a:buNone/>
            </a:pPr>
            <a:r>
              <a:rPr b="1" i="0" lang="en-US" sz="27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Mutual Authentication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2772159" y="4102650"/>
            <a:ext cx="4298892" cy="14094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Device and server exchange exactly two encrypted messages to prove liveness and derive a shared ephemeral session key.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952500" y="878898"/>
            <a:ext cx="2655019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DESIGN HIGHLIGHT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Innovation: The Two-Message Handshake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952500" y="3753039"/>
            <a:ext cx="189377" cy="495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256177" y="3753039"/>
            <a:ext cx="7409206" cy="993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ECC is used exactly once — offline — to derive each entity’s long-term secret λ </a:t>
            </a:r>
            <a:r>
              <a:rPr b="0" baseline="-25000" i="0" lang="en-US" sz="1875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X </a:t>
            </a:r>
            <a:r>
              <a:rPr b="0" i="0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(Eq. 8).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52500" y="5051768"/>
            <a:ext cx="189377" cy="495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256177" y="5051768"/>
            <a:ext cx="7409206" cy="95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online session uses only fast symmetric primitives: KDF, AES-GCM, MAC.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52500" y="6308959"/>
            <a:ext cx="189377" cy="495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256177" y="6308959"/>
            <a:ext cx="7409206" cy="95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Mutual authentication needs exactly 2 messages — vs. 4+ in compared schemes (Table IV).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52500" y="7566151"/>
            <a:ext cx="189377" cy="495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256177" y="7566151"/>
            <a:ext cx="7409206" cy="95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791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Result: low compute + low bandwidth, suited to resource-constrained IoT devices.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982927" y="2613286"/>
            <a:ext cx="8352572" cy="7006963"/>
          </a:xfrm>
          <a:prstGeom prst="roundRect">
            <a:avLst>
              <a:gd fmla="val 816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9410673" y="4321766"/>
            <a:ext cx="1152606" cy="556752"/>
          </a:xfrm>
          <a:prstGeom prst="roundRect">
            <a:avLst>
              <a:gd fmla="val 6843" name="adj"/>
            </a:avLst>
          </a:prstGeom>
          <a:solidFill>
            <a:srgbClr val="1E2124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9609832" y="4463775"/>
            <a:ext cx="830488" cy="3108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Device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0753778" y="4595406"/>
            <a:ext cx="4810869" cy="9525"/>
          </a:xfrm>
          <a:prstGeom prst="rect">
            <a:avLst/>
          </a:prstGeom>
          <a:solidFill>
            <a:srgbClr val="28D4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15488407" y="4538310"/>
            <a:ext cx="95250" cy="112568"/>
          </a:xfrm>
          <a:prstGeom prst="rect">
            <a:avLst/>
          </a:prstGeom>
          <a:solidFill>
            <a:srgbClr val="28D4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5755148" y="4321766"/>
            <a:ext cx="1152606" cy="556752"/>
          </a:xfrm>
          <a:prstGeom prst="roundRect">
            <a:avLst>
              <a:gd fmla="val 6843" name="adj"/>
            </a:avLst>
          </a:prstGeom>
          <a:solidFill>
            <a:srgbClr val="1E2124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15954307" y="4463775"/>
            <a:ext cx="830488" cy="3108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035819" y="5183277"/>
            <a:ext cx="8246789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M1 = { PID</a:t>
            </a:r>
            <a:r>
              <a:rPr b="0" baseline="-2500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Vi,t</a:t>
            </a: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, C1, μ1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410673" y="5828109"/>
            <a:ext cx="1152606" cy="556752"/>
          </a:xfrm>
          <a:prstGeom prst="roundRect">
            <a:avLst>
              <a:gd fmla="val 6843" name="adj"/>
            </a:avLst>
          </a:prstGeom>
          <a:solidFill>
            <a:srgbClr val="1E2124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9609832" y="5970118"/>
            <a:ext cx="830488" cy="3108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Device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0753778" y="6101750"/>
            <a:ext cx="4810869" cy="9525"/>
          </a:xfrm>
          <a:prstGeom prst="rect">
            <a:avLst/>
          </a:prstGeom>
          <a:solidFill>
            <a:srgbClr val="28D4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0734769" y="6044654"/>
            <a:ext cx="95250" cy="112568"/>
          </a:xfrm>
          <a:prstGeom prst="rect">
            <a:avLst/>
          </a:prstGeom>
          <a:solidFill>
            <a:srgbClr val="28D4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5755148" y="5828109"/>
            <a:ext cx="1152606" cy="556752"/>
          </a:xfrm>
          <a:prstGeom prst="roundRect">
            <a:avLst>
              <a:gd fmla="val 6843" name="adj"/>
            </a:avLst>
          </a:prstGeom>
          <a:solidFill>
            <a:srgbClr val="1E2124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15954307" y="5970118"/>
            <a:ext cx="830488" cy="3108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035819" y="6689621"/>
            <a:ext cx="8246789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M2 = { IDR</a:t>
            </a:r>
            <a:r>
              <a:rPr b="0" baseline="-2500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j </a:t>
            </a: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/ PIDR</a:t>
            </a:r>
            <a:r>
              <a:rPr b="0" baseline="-2500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j</a:t>
            </a: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, C2, σ2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410673" y="7334453"/>
            <a:ext cx="74970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298216" y="7571712"/>
            <a:ext cx="7721994" cy="378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Shared session key K</a:t>
            </a:r>
            <a:r>
              <a:rPr b="0" baseline="-25000" i="0" lang="en-US" sz="15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ij,t </a:t>
            </a: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established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952500" y="878898"/>
            <a:ext cx="1825377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SECTION III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52500" y="149883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Mathematical Model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952500" y="2422719"/>
            <a:ext cx="16382999" cy="7197531"/>
          </a:xfrm>
          <a:prstGeom prst="roundRect">
            <a:avLst>
              <a:gd fmla="val 794" name="adj"/>
            </a:avLst>
          </a:prstGeom>
          <a:noFill/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961159" y="2431378"/>
            <a:ext cx="16365681" cy="589630"/>
          </a:xfrm>
          <a:prstGeom prst="rect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265919" y="2602801"/>
            <a:ext cx="4433664" cy="284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500"/>
              <a:buFont typeface="IBM Plex Mono"/>
              <a:buNone/>
            </a:pPr>
            <a:r>
              <a:rPr b="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CONCEPT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296522" y="2602801"/>
            <a:ext cx="6449020" cy="284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500"/>
              <a:buFont typeface="IBM Plex Mono"/>
              <a:buNone/>
            </a:pPr>
            <a:r>
              <a:rPr b="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EQUATION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1159268" y="2602801"/>
            <a:ext cx="6449020" cy="284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500"/>
              <a:buFont typeface="IBM Plex Mono"/>
              <a:buNone/>
            </a:pPr>
            <a:r>
              <a:rPr b="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IT MATTERS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61159" y="3021008"/>
            <a:ext cx="16365681" cy="76775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61159" y="3021008"/>
            <a:ext cx="163656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265919" y="3259809"/>
            <a:ext cx="4433664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Long-term secret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296522" y="3239176"/>
            <a:ext cx="644902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λ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X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= H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(ID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X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∥ s) </a:t>
            </a: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Eq.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159268" y="3272798"/>
            <a:ext cx="644902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TA-derived per-entity ECC secret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61159" y="3788758"/>
            <a:ext cx="163656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265919" y="4027559"/>
            <a:ext cx="4433664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Pairwise root key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296522" y="4006927"/>
            <a:ext cx="644902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k*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ij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= KDF(λ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Vi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∥ λ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Rj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) </a:t>
            </a: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Eq. 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1159268" y="4040548"/>
            <a:ext cx="644902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Static shared symmetric root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61159" y="4556508"/>
            <a:ext cx="16365681" cy="76775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61159" y="4556508"/>
            <a:ext cx="163656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265919" y="4795310"/>
            <a:ext cx="4433664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Rotating pseudonym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296522" y="4774677"/>
            <a:ext cx="644902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PID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Vi,t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= H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(λ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Vi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∥ t) </a:t>
            </a: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Eq.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1159268" y="4808298"/>
            <a:ext cx="644902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Unlinkable device identifier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61159" y="5324258"/>
            <a:ext cx="163656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265919" y="5563060"/>
            <a:ext cx="4433664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Session key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296522" y="5542427"/>
            <a:ext cx="644902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K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ij,t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= KDF(k*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ij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∥ N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∥ N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j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∥ t) </a:t>
            </a: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Eq. 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159268" y="5576049"/>
            <a:ext cx="644902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Fresh per session, from both nonces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61159" y="6092008"/>
            <a:ext cx="16365681" cy="767750"/>
          </a:xfrm>
          <a:prstGeom prst="rect">
            <a:avLst/>
          </a:prstGeom>
          <a:solidFill>
            <a:srgbClr val="1517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961159" y="6092008"/>
            <a:ext cx="163656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265919" y="6330810"/>
            <a:ext cx="4433664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 gate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296522" y="6310177"/>
            <a:ext cx="644902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Allow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ij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(t) = cov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ij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(t) ∧ Auth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ij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(t) </a:t>
            </a: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Eq. 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1159268" y="6343799"/>
            <a:ext cx="6449020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Coverage and authentication must both hold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952500" y="878898"/>
            <a:ext cx="2820963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SECURITY ANALYSIS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Threat Model &amp; Security Guarantees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52500" y="2613286"/>
            <a:ext cx="8010525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ADVERSARY MODEL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52500" y="3286057"/>
            <a:ext cx="174291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222014" y="3286057"/>
            <a:ext cx="7223165" cy="830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2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PPT attacker with full control of the channel: eavesdrop, replay, drop, reorder, inject.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52500" y="4402336"/>
            <a:ext cx="174291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22014" y="4402336"/>
            <a:ext cx="6477223" cy="4343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2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Cannot compromise the offline TA registration phase.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952500" y="5122393"/>
            <a:ext cx="174291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222014" y="5122393"/>
            <a:ext cx="7223165" cy="870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2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Compromising one device’s λ</a:t>
            </a:r>
            <a:r>
              <a:rPr b="0" baseline="-25000" i="0" lang="en-US" sz="1625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 </a:t>
            </a: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endangers that pair — other pairs stay secure via per-entity secrets.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768141" y="2613286"/>
            <a:ext cx="8567358" cy="1579066"/>
          </a:xfrm>
          <a:prstGeom prst="roundRect">
            <a:avLst>
              <a:gd fmla="val 361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9081560" y="2888618"/>
            <a:ext cx="8734573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Mutual Authentication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081560" y="3330232"/>
            <a:ext cx="8178737" cy="6248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56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Forging a message requires breaking a SUF-CMA-secure MAC; adversary’s advantage is negligible.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768141" y="4382853"/>
            <a:ext cx="8567358" cy="1579066"/>
          </a:xfrm>
          <a:prstGeom prst="roundRect">
            <a:avLst>
              <a:gd fmla="val 361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9081560" y="4658185"/>
            <a:ext cx="8734573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Secrecy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081560" y="5099799"/>
            <a:ext cx="8178737" cy="6248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56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Session keys are indistinguishable from random under IND-CPA encryption + a PRF-based KDF.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768141" y="6152419"/>
            <a:ext cx="8567358" cy="1579066"/>
          </a:xfrm>
          <a:prstGeom prst="roundRect">
            <a:avLst>
              <a:gd fmla="val 361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9081560" y="6427751"/>
            <a:ext cx="8734573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Unlinkability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081560" y="6869365"/>
            <a:ext cx="8178737" cy="6248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56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Rotating pseudonyms make two sessions of the same device unlinkable to a passive observer.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952500" y="878898"/>
            <a:ext cx="2655019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REPORTED RESULTS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Paper’s Claimed Performance Gains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52500" y="2613286"/>
            <a:ext cx="5257827" cy="2182903"/>
          </a:xfrm>
          <a:prstGeom prst="roundRect">
            <a:avLst>
              <a:gd fmla="val 2618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1118234" y="3002945"/>
            <a:ext cx="4926359" cy="1028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6779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7800"/>
              <a:buFont typeface="IBM Plex Mono"/>
              <a:buNone/>
            </a:pPr>
            <a:r>
              <a:rPr b="1" i="0" lang="en-US" sz="78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17%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118234" y="4107791"/>
            <a:ext cx="492635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lower communication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515086" y="2613286"/>
            <a:ext cx="5257827" cy="2182903"/>
          </a:xfrm>
          <a:prstGeom prst="roundRect">
            <a:avLst>
              <a:gd fmla="val 2618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680820" y="3002945"/>
            <a:ext cx="4926359" cy="1028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6779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7800"/>
              <a:buFont typeface="IBM Plex Mono"/>
              <a:buNone/>
            </a:pPr>
            <a:r>
              <a:rPr b="1" i="0" lang="en-US" sz="78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21%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680820" y="4107791"/>
            <a:ext cx="492635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lower processing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2077672" y="2613286"/>
            <a:ext cx="5257827" cy="2182903"/>
          </a:xfrm>
          <a:prstGeom prst="roundRect">
            <a:avLst>
              <a:gd fmla="val 2618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2243407" y="3002945"/>
            <a:ext cx="4926359" cy="1028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6779"/>
              </a:lnSpc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7800"/>
              <a:buFont typeface="IBM Plex Mono"/>
              <a:buNone/>
            </a:pPr>
            <a:r>
              <a:rPr b="1" i="0" lang="en-US" sz="78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12%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2243407" y="4107791"/>
            <a:ext cx="492635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lower storage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952500" y="5253362"/>
            <a:ext cx="18021299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Compared against Turkanovic et al., Porambage et al., Dhillon &amp; Karla, Cheng &amp; Le, Sadhukhan et al., and others (Tables IV–VI).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952500" y="5780687"/>
            <a:ext cx="16382999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952500" y="6056019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95428" y="6056019"/>
            <a:ext cx="13282278" cy="440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35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Table III’s timing constants (e.g. T</a:t>
            </a:r>
            <a:r>
              <a:rPr b="0" baseline="-25000" i="0" lang="en-US" sz="15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ECM </a:t>
            </a: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= 17.1 ms) look calibrated for 8/16-bit microcontrollers, not general-purpose hardware.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952500" y="6725069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95428" y="6725069"/>
            <a:ext cx="10175229" cy="403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435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Validated only in OMNET++ simulation — no reference implementation existed before now.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952500" y="878898"/>
            <a:ext cx="3318793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ENGINEERING DECISION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Design Decision: Section II vs. Section III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952500" y="2613286"/>
            <a:ext cx="8030427" cy="7006963"/>
          </a:xfrm>
          <a:prstGeom prst="roundRect">
            <a:avLst>
              <a:gd fmla="val 816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1342159" y="3002945"/>
            <a:ext cx="7976220" cy="4104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Section II (narrative) — NOT implemented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342159" y="3584796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585087" y="3584796"/>
            <a:ext cx="7563966" cy="3809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Reuses the same static HD/RD pair across authentication attempts.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342159" y="4137151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585087" y="4137151"/>
            <a:ext cx="7218426" cy="723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per-session nonce — replayable by an eavesdropper who records one valid exchange.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1342159" y="5032352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585087" y="5032352"/>
            <a:ext cx="6054105" cy="3809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783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covered by the paper’s own security proof sketch.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9287687" y="2613286"/>
            <a:ext cx="8047813" cy="7006963"/>
          </a:xfrm>
          <a:prstGeom prst="roundRect">
            <a:avLst>
              <a:gd fmla="val 816" name="adj"/>
            </a:avLst>
          </a:prstGeom>
          <a:solidFill>
            <a:srgbClr val="1E2124"/>
          </a:solidFill>
          <a:ln cap="flat" cmpd="sng" w="17300">
            <a:solidFill>
              <a:srgbClr val="28D4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9686005" y="3011605"/>
            <a:ext cx="7976294" cy="4104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Section III (mathematical model) ✓ Chosen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686005" y="3688705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928932" y="3688705"/>
            <a:ext cx="6518783" cy="463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8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Fresh nonces N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N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j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session; ephemeral session key K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ij,t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686005" y="4419248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928932" y="4419248"/>
            <a:ext cx="4679477" cy="4266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8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Epoch-rotated pseudonyms for unlinkability.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686005" y="5112584"/>
            <a:ext cx="166782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28D4B2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9928932" y="5112584"/>
            <a:ext cx="7218496" cy="8152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8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version the paper’s security sketch (auth, secrecy, unlinkability) actually covers.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952500" y="878898"/>
            <a:ext cx="2323133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IMPLEMENTATION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Implementation Scope: What We Built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952500" y="2613286"/>
            <a:ext cx="8012027" cy="1122164"/>
          </a:xfrm>
          <a:prstGeom prst="roundRect">
            <a:avLst>
              <a:gd fmla="val 5093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1227832" y="2850532"/>
            <a:ext cx="8207499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Crypto primitives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227832" y="3251421"/>
            <a:ext cx="8207499" cy="284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500"/>
              <a:buFont typeface="IBM Plex Mono"/>
              <a:buNone/>
            </a:pPr>
            <a:r>
              <a:rPr b="0" i="0" lang="en-US" sz="15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NIST P-256 · SHA-256 · HKDF-SHA256 · AES-256-GCM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52500" y="3906873"/>
            <a:ext cx="8012027" cy="1122164"/>
          </a:xfrm>
          <a:prstGeom prst="roundRect">
            <a:avLst>
              <a:gd fmla="val 5093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227832" y="4144119"/>
            <a:ext cx="8207499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Protocol core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227832" y="4545008"/>
            <a:ext cx="8207499" cy="284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TA registration, pseudonym rotation, 2-message mutual auth — transport-agnostic.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952500" y="5200460"/>
            <a:ext cx="8012027" cy="1109175"/>
          </a:xfrm>
          <a:prstGeom prst="roundRect">
            <a:avLst>
              <a:gd fmla="val 5152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227832" y="5437706"/>
            <a:ext cx="8207499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CLIs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227832" y="5838595"/>
            <a:ext cx="8207499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hea-ta enroll → hea-server start → hea-device authenticate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952500" y="6481058"/>
            <a:ext cx="8012027" cy="1368948"/>
          </a:xfrm>
          <a:prstGeom prst="roundRect">
            <a:avLst>
              <a:gd fmla="val 4175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227832" y="6718304"/>
            <a:ext cx="8207499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Adversarial test suite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227832" y="7119193"/>
            <a:ext cx="7685203" cy="5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8 targeted tests: replay, tamper, forgery, block-list enforcement, out-of-coverage rejection.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9421699" y="2613286"/>
            <a:ext cx="7913800" cy="7006963"/>
          </a:xfrm>
          <a:prstGeom prst="roundRect">
            <a:avLst>
              <a:gd fmla="val 816" name="adj"/>
            </a:avLst>
          </a:prstGeom>
          <a:solidFill>
            <a:srgbClr val="1E2124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9773205" y="2964791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EDEFF0"/>
                </a:solidFill>
                <a:latin typeface="IBM Plex Mono"/>
                <a:ea typeface="IBM Plex Mono"/>
                <a:cs typeface="IBM Plex Mono"/>
                <a:sym typeface="IBM Plex Mono"/>
              </a:rPr>
              <a:t>hybrid_ecc_auth/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9773205" y="3352489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crypto/ curve, kdf, hashes, aead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9773205" y="3740186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protocol/ ta, device, server, messages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9773205" y="4127883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storage/ keystore, session_log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9773205" y="4515580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demo/ ta_cli, device_node, server_node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9773205" y="4903277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bench/ proposed, baselines, harness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9773205" y="5290975"/>
            <a:ext cx="7427114" cy="4257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127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tests/ unit / property / adversarial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952500" y="878898"/>
            <a:ext cx="1825377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METHODOLOGY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Benchmarking Methodology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952500" y="2498959"/>
            <a:ext cx="16382999" cy="1707059"/>
          </a:xfrm>
          <a:prstGeom prst="roundRect">
            <a:avLst>
              <a:gd fmla="val 3348" name="adj"/>
            </a:avLst>
          </a:prstGeom>
          <a:solidFill>
            <a:srgbClr val="1E2124"/>
          </a:solidFill>
          <a:ln cap="flat" cmpd="sng" w="9525">
            <a:solidFill>
              <a:srgbClr val="0A36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1265919" y="2774291"/>
            <a:ext cx="17331779" cy="2848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500"/>
              <a:buFont typeface="IBM Plex Mono"/>
              <a:buNone/>
            </a:pPr>
            <a:r>
              <a:rPr b="0" i="0" lang="en-US" sz="15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DISCLOSED DEVIATION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265919" y="3116325"/>
            <a:ext cx="16228848" cy="85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87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paper’s numbers come from an OMNET++ simulation using assumed per-operation constants (e.g. T</a:t>
            </a:r>
            <a:r>
              <a:rPr b="0" baseline="-25000" i="0" lang="en-US" sz="15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ECM </a:t>
            </a:r>
            <a:r>
              <a:rPr b="0" i="0" lang="en-US" sz="18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= 17.1 ms), calibrated for embedded microcontrollers. Our benchmark instead measures real operation costs — actual scalar multiplication, AES-GCM, and hash time via OpenSSL bindings.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52500" y="4587018"/>
            <a:ext cx="5257827" cy="5033232"/>
          </a:xfrm>
          <a:prstGeom prst="roundRect">
            <a:avLst>
              <a:gd fmla="val 1135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1265919" y="4900436"/>
            <a:ext cx="509408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Communication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265919" y="5361059"/>
            <a:ext cx="4769920" cy="6668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38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Serialize real M1/M2 wire messages; measure exact byte length per field (PID, ciphertext, tag).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515086" y="4587018"/>
            <a:ext cx="5257827" cy="5033232"/>
          </a:xfrm>
          <a:prstGeom prst="roundRect">
            <a:avLst>
              <a:gd fmla="val 1135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6828505" y="4900436"/>
            <a:ext cx="509408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828505" y="5361059"/>
            <a:ext cx="4769920" cy="6668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38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 real KDF / AEAD / MAC operations over ≥1000 trials; report mean, median, p95, stddev.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2077672" y="4587018"/>
            <a:ext cx="5257827" cy="5033232"/>
          </a:xfrm>
          <a:prstGeom prst="roundRect">
            <a:avLst>
              <a:gd fmla="val 1135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12391091" y="4900436"/>
            <a:ext cx="509408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2391091" y="5361059"/>
            <a:ext cx="4769920" cy="10138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38"/>
              </a:lnSpc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650"/>
              <a:buFont typeface="IBM Plex Sans"/>
              <a:buNone/>
            </a:pP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 actual serialized size of each entity’s persisted state (λ </a:t>
            </a:r>
            <a:r>
              <a:rPr b="0" baseline="-25000" i="0" lang="en-US" sz="1375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X </a:t>
            </a:r>
            <a:r>
              <a:rPr b="0" i="0" lang="en-US" sz="16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cached keys, block-list, epoch counter).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952500" y="878898"/>
            <a:ext cx="1132203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952500" y="1422662"/>
            <a:ext cx="462795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Benchmark Results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2441422" y="1632239"/>
            <a:ext cx="4894077" cy="416448"/>
          </a:xfrm>
          <a:prstGeom prst="roundRect">
            <a:avLst>
              <a:gd fmla="val 9149" name="adj"/>
            </a:avLst>
          </a:prstGeom>
          <a:noFill/>
          <a:ln cap="flat" cmpd="sng" w="9525">
            <a:solidFill>
              <a:srgbClr val="28D4B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12621531" y="1717098"/>
            <a:ext cx="4680682" cy="2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500"/>
              <a:buFont typeface="IBM Plex Mono"/>
              <a:buNone/>
            </a:pPr>
            <a:r>
              <a:rPr b="0" i="0" lang="en-US" sz="150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PLACEHOLDER — PENDING BENCHMARK RUN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52500" y="2467773"/>
            <a:ext cx="8039086" cy="7152476"/>
          </a:xfrm>
          <a:prstGeom prst="roundRect">
            <a:avLst>
              <a:gd fmla="val 79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1265919" y="2781192"/>
            <a:ext cx="8153474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Measured vs. Claimed, by Category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265919" y="8920690"/>
            <a:ext cx="7412249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265919" y="3270430"/>
            <a:ext cx="9525" cy="5658919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1388837" y="8477385"/>
            <a:ext cx="2163081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388837" y="8477385"/>
            <a:ext cx="9525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543259" y="8477385"/>
            <a:ext cx="9525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1801767" y="8581294"/>
            <a:ext cx="1470868" cy="2632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Communication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894764" y="8477385"/>
            <a:ext cx="2163149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3894764" y="8477385"/>
            <a:ext cx="9525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6049254" y="8477385"/>
            <a:ext cx="9525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462070" y="8581294"/>
            <a:ext cx="1104738" cy="2632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400759" y="8477385"/>
            <a:ext cx="2163149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400759" y="8477385"/>
            <a:ext cx="9525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8555249" y="8477385"/>
            <a:ext cx="9525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7122305" y="8581294"/>
            <a:ext cx="796190" cy="2632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Storage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895306" y="9081695"/>
            <a:ext cx="8153474" cy="2632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Results pending — to be added after benchmark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9296345" y="2467773"/>
            <a:ext cx="8039154" cy="7152476"/>
          </a:xfrm>
          <a:prstGeom prst="roundRect">
            <a:avLst>
              <a:gd fmla="val 79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9609764" y="2781192"/>
            <a:ext cx="8153548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Measurement vs. Paper’s Reference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9609764" y="3618485"/>
            <a:ext cx="7412317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9609764" y="3270430"/>
            <a:ext cx="3057525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Metric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2389332" y="3270430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Measured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4705707" y="3270430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Paper Ref.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609764" y="4108536"/>
            <a:ext cx="7412317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9609764" y="3741404"/>
            <a:ext cx="3057525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Communication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2389332" y="3741404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—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4705707" y="3741404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17% lower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9609764" y="4636672"/>
            <a:ext cx="7412317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9609764" y="4269541"/>
            <a:ext cx="3057525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Processing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12389332" y="4269541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—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14705707" y="4269541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21% lower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9609764" y="5164809"/>
            <a:ext cx="7412317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9609764" y="4797678"/>
            <a:ext cx="3057525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Storage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12389332" y="4797678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—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4705707" y="4797678"/>
            <a:ext cx="2548012" cy="2718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425"/>
              <a:buFont typeface="IBM Plex Mono"/>
              <a:buNone/>
            </a:pPr>
            <a:r>
              <a:rPr b="0" i="0" lang="en-US" sz="1425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12% lower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9498579" y="9081749"/>
            <a:ext cx="7634686" cy="263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Results pending — to be added after benchmark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B0E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952500" y="878898"/>
            <a:ext cx="2986906" cy="3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B2"/>
              </a:buClr>
              <a:buSzPts val="1650"/>
              <a:buFont typeface="IBM Plex Mono"/>
              <a:buNone/>
            </a:pPr>
            <a:r>
              <a:rPr b="0" i="0" lang="en-US" sz="1650" u="none" cap="none" strike="noStrike">
                <a:solidFill>
                  <a:srgbClr val="28D4B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DEFINITION OF DONE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6375423" y="857250"/>
            <a:ext cx="1036277" cy="336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78D93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952500" y="1575075"/>
            <a:ext cx="18021299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3750"/>
              <a:buFont typeface="IBM Plex Sans"/>
              <a:buNone/>
            </a:pPr>
            <a:r>
              <a:rPr b="1" i="0" lang="en-US" sz="37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Status Against Definition of Done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952500" y="2613286"/>
            <a:ext cx="16382999" cy="821193"/>
          </a:xfrm>
          <a:prstGeom prst="roundRect">
            <a:avLst>
              <a:gd fmla="val 695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1265919" y="2871503"/>
            <a:ext cx="304759" cy="304759"/>
          </a:xfrm>
          <a:prstGeom prst="roundRect">
            <a:avLst>
              <a:gd fmla="val 12502" name="adj"/>
            </a:avLst>
          </a:prstGeom>
          <a:noFill/>
          <a:ln cap="flat" cmpd="sng" w="17300">
            <a:solidFill>
              <a:srgbClr val="28D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1780187" y="2850532"/>
            <a:ext cx="10198521" cy="3848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773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3-terminal quick-start (TA enroll → server → device) runs end-to-end in &lt;5 minutes.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52500" y="3624979"/>
            <a:ext cx="16382999" cy="821193"/>
          </a:xfrm>
          <a:prstGeom prst="roundRect">
            <a:avLst>
              <a:gd fmla="val 695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1265919" y="3883196"/>
            <a:ext cx="304759" cy="304759"/>
          </a:xfrm>
          <a:prstGeom prst="roundRect">
            <a:avLst>
              <a:gd fmla="val 12502" name="adj"/>
            </a:avLst>
          </a:prstGeom>
          <a:noFill/>
          <a:ln cap="flat" cmpd="sng" w="17300">
            <a:solidFill>
              <a:srgbClr val="28D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1780187" y="3862225"/>
            <a:ext cx="12168634" cy="3848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773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Replay-demo flag produces a visible, correctly classified rejection (not a crash, not a silent success).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952500" y="4636673"/>
            <a:ext cx="16382999" cy="821193"/>
          </a:xfrm>
          <a:prstGeom prst="roundRect">
            <a:avLst>
              <a:gd fmla="val 695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1265919" y="4894889"/>
            <a:ext cx="304759" cy="304759"/>
          </a:xfrm>
          <a:prstGeom prst="roundRect">
            <a:avLst>
              <a:gd fmla="val 12502" name="adj"/>
            </a:avLst>
          </a:prstGeom>
          <a:noFill/>
          <a:ln cap="flat" cmpd="sng" w="17300">
            <a:solidFill>
              <a:srgbClr val="28D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780187" y="4873918"/>
            <a:ext cx="10250239" cy="3848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773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≥90% test coverage on protocol/ and crypto/; all 8 SEC-0x adversarial tests passing.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952500" y="5648365"/>
            <a:ext cx="16382999" cy="821193"/>
          </a:xfrm>
          <a:prstGeom prst="roundRect">
            <a:avLst>
              <a:gd fmla="val 695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1265919" y="5906582"/>
            <a:ext cx="304759" cy="304759"/>
          </a:xfrm>
          <a:prstGeom prst="roundRect">
            <a:avLst>
              <a:gd fmla="val 12502" name="adj"/>
            </a:avLst>
          </a:prstGeom>
          <a:noFill/>
          <a:ln cap="flat" cmpd="sng" w="17300">
            <a:solidFill>
              <a:srgbClr val="28D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1780187" y="5885611"/>
            <a:ext cx="12649050" cy="3848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773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 benchmark report: measured numbers + paper’s reference numbers + methodology-deviation note.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952500" y="6660059"/>
            <a:ext cx="16382999" cy="821193"/>
          </a:xfrm>
          <a:prstGeom prst="roundRect">
            <a:avLst>
              <a:gd fmla="val 6959" name="adj"/>
            </a:avLst>
          </a:prstGeom>
          <a:solidFill>
            <a:srgbClr val="15171A"/>
          </a:solidFill>
          <a:ln cap="flat" cmpd="sng" w="9525">
            <a:solidFill>
              <a:srgbClr val="343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1265919" y="6918275"/>
            <a:ext cx="304759" cy="304759"/>
          </a:xfrm>
          <a:prstGeom prst="roundRect">
            <a:avLst>
              <a:gd fmla="val 12502" name="adj"/>
            </a:avLst>
          </a:prstGeom>
          <a:noFill/>
          <a:ln cap="flat" cmpd="sng" w="17300">
            <a:solidFill>
              <a:srgbClr val="28D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1780187" y="6897304"/>
            <a:ext cx="13018368" cy="3848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773"/>
              </a:lnSpc>
              <a:spcBef>
                <a:spcPts val="0"/>
              </a:spcBef>
              <a:spcAft>
                <a:spcPts val="0"/>
              </a:spcAft>
              <a:buClr>
                <a:srgbClr val="EDEFF0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EDEFF0"/>
                </a:solidFill>
                <a:latin typeface="IBM Plex Sans"/>
                <a:ea typeface="IBM Plex Sans"/>
                <a:cs typeface="IBM Plex Sans"/>
                <a:sym typeface="IBM Plex Sans"/>
              </a:rPr>
              <a:t>Written verdict: is our reproduction directionally consistent with the claimed 17% / 21% / 12% reductions?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952500" y="8972577"/>
            <a:ext cx="16382999" cy="9525"/>
          </a:xfrm>
          <a:prstGeom prst="rect">
            <a:avLst/>
          </a:prstGeom>
          <a:solidFill>
            <a:srgbClr val="343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952500" y="9247936"/>
            <a:ext cx="16874489" cy="410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8D93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878D93"/>
                </a:solidFill>
                <a:latin typeface="IBM Plex Sans"/>
                <a:ea typeface="IBM Plex Sans"/>
                <a:cs typeface="IBM Plex Sans"/>
                <a:sym typeface="IBM Plex Sans"/>
              </a:rPr>
              <a:t>Next: full baseline re-implementation, optional TA-assisted rekey, embedded port.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